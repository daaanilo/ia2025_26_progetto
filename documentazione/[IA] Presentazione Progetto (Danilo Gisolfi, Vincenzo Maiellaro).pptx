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60" r:id="rId7"/>
    <p:sldId id="273" r:id="rId8"/>
    <p:sldId id="261" r:id="rId9"/>
    <p:sldId id="271" r:id="rId10"/>
    <p:sldId id="262" r:id="rId11"/>
    <p:sldId id="266" r:id="rId12"/>
    <p:sldId id="275" r:id="rId13"/>
    <p:sldId id="274" r:id="rId14"/>
    <p:sldId id="268" r:id="rId15"/>
    <p:sldId id="272" r:id="rId16"/>
    <p:sldId id="269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791" autoAdjust="0"/>
  </p:normalViewPr>
  <p:slideViewPr>
    <p:cSldViewPr snapToGrid="0">
      <p:cViewPr varScale="1">
        <p:scale>
          <a:sx n="87" d="100"/>
          <a:sy n="87" d="100"/>
        </p:scale>
        <p:origin x="15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DF52D-7BC3-4EAC-B5CB-C0693EBEF972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BEC60-B781-4BC8-A7BD-9914EA908A8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56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 a tutti. Siamo Danilo e Vincenzo e abbiamo partecipato a questo progetto occupandoci principalmente dell'implementazione e dell'integrazione tra agenti RL e modelli linguistici.</a:t>
            </a:r>
          </a:p>
          <a:p>
            <a:r>
              <a:rPr lang="it-IT" dirty="0"/>
              <a:t>In una frase: l'obiettivo è sviluppare un NPC adattivo per </a:t>
            </a:r>
            <a:r>
              <a:rPr lang="it-IT" dirty="0" err="1"/>
              <a:t>l'environment</a:t>
            </a:r>
            <a:r>
              <a:rPr lang="it-IT" dirty="0"/>
              <a:t> </a:t>
            </a:r>
            <a:r>
              <a:rPr lang="it-IT" dirty="0" err="1"/>
              <a:t>Crafter</a:t>
            </a:r>
            <a:r>
              <a:rPr lang="it-IT" dirty="0"/>
              <a:t> combinando un agente Deep Q con componenti LLM che forniscono suggerimenti e feedback.</a:t>
            </a:r>
          </a:p>
          <a:p>
            <a:r>
              <a:rPr lang="it-IT" dirty="0"/>
              <a:t>Oggi seguiremo questo ordine: prima descriveremo il contesto e gli obiettivi, poi l'architettura e le scelte implementative, quindi mostreremo come abbiamo addestrato e valutato il sistema e infine discuteremo risultati e prossimi passi.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8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Crafter</a:t>
            </a:r>
            <a:r>
              <a:rPr lang="it-IT" dirty="0"/>
              <a:t> è un ambiente open‑world di sopravvivenza che offre scenari ricchi e obiettivi sparsi, una combinazione ideale per studiare </a:t>
            </a:r>
            <a:r>
              <a:rPr lang="it-IT" dirty="0" err="1"/>
              <a:t>decision</a:t>
            </a:r>
            <a:r>
              <a:rPr lang="it-IT" dirty="0"/>
              <a:t> making in condizioni realistiche e difficili per l'apprendimento per rinforzo.</a:t>
            </a:r>
          </a:p>
          <a:p>
            <a:r>
              <a:rPr lang="it-IT" dirty="0"/>
              <a:t>Il problema che affrontiamo è far prendere all'NPC decisioni coerenti e sequenziali in presenza di ricompense rare e situazioni di rischio.</a:t>
            </a:r>
          </a:p>
          <a:p>
            <a:r>
              <a:rPr lang="it-IT" dirty="0"/>
              <a:t>Per questo abbiamo scelto un approccio ibrido: un DQN per apprendere politiche robuste e </a:t>
            </a:r>
            <a:r>
              <a:rPr lang="it-IT" dirty="0" err="1"/>
              <a:t>LLMs</a:t>
            </a:r>
            <a:r>
              <a:rPr lang="it-IT" dirty="0"/>
              <a:t> per generare suggerimenti strategici (</a:t>
            </a:r>
            <a:r>
              <a:rPr lang="it-IT" dirty="0" err="1"/>
              <a:t>Helper</a:t>
            </a:r>
            <a:r>
              <a:rPr lang="it-IT" dirty="0"/>
              <a:t>) e fornire feedback correttivi (</a:t>
            </a:r>
            <a:r>
              <a:rPr lang="it-IT" dirty="0" err="1"/>
              <a:t>Reviewer</a:t>
            </a:r>
            <a:r>
              <a:rPr lang="it-IT" dirty="0"/>
              <a:t>), creando un ciclo </a:t>
            </a:r>
            <a:r>
              <a:rPr lang="it-IT" dirty="0" err="1"/>
              <a:t>Helper→Reviewer→NPC</a:t>
            </a:r>
            <a:r>
              <a:rPr lang="it-IT" dirty="0"/>
              <a:t> che unisce pianificazione rapida e apprendimento autonomo.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6505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obiettivi principali sono quattro.</a:t>
            </a:r>
          </a:p>
          <a:p>
            <a:r>
              <a:rPr lang="it-IT" dirty="0"/>
              <a:t>Primo: adattare e fine‑</a:t>
            </a:r>
            <a:r>
              <a:rPr lang="it-IT" dirty="0" err="1"/>
              <a:t>tune</a:t>
            </a:r>
            <a:r>
              <a:rPr lang="it-IT" dirty="0"/>
              <a:t> il </a:t>
            </a:r>
            <a:r>
              <a:rPr lang="it-IT" dirty="0" err="1"/>
              <a:t>Reviewer</a:t>
            </a:r>
            <a:r>
              <a:rPr lang="it-IT" dirty="0"/>
              <a:t> perché il linguaggio generale non è sufficiente per valutare azioni specifiche di </a:t>
            </a:r>
            <a:r>
              <a:rPr lang="it-IT" dirty="0" err="1"/>
              <a:t>Crafter</a:t>
            </a:r>
            <a:r>
              <a:rPr lang="it-IT" dirty="0"/>
              <a:t>; servono esempi e correzioni mirate.</a:t>
            </a:r>
          </a:p>
          <a:p>
            <a:r>
              <a:rPr lang="it-IT" dirty="0"/>
              <a:t>Secondo: modificare l'</a:t>
            </a:r>
            <a:r>
              <a:rPr lang="it-IT" dirty="0" err="1"/>
              <a:t>Helper</a:t>
            </a:r>
            <a:r>
              <a:rPr lang="it-IT" dirty="0"/>
              <a:t> per produrre set i azioni coerenti e sequenziali, non singole mosse, in modo da permettere pianificazioni a breve termine.</a:t>
            </a:r>
          </a:p>
          <a:p>
            <a:r>
              <a:rPr lang="it-IT" dirty="0"/>
              <a:t>Terzo: implementare e addestrare l'NPC tramite DQN con </a:t>
            </a:r>
            <a:r>
              <a:rPr lang="it-IT" dirty="0" err="1"/>
              <a:t>reward</a:t>
            </a:r>
            <a:r>
              <a:rPr lang="it-IT" dirty="0"/>
              <a:t> shaping per accelerare l'apprendimento.</a:t>
            </a:r>
          </a:p>
          <a:p>
            <a:r>
              <a:rPr lang="it-IT" dirty="0"/>
              <a:t>Quarto: valutare l'intero sistema confrontandolo con una baseline DQN pura per quantificare il contributo dell'LLM.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50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L'architettura </a:t>
            </a:r>
            <a:r>
              <a:rPr lang="it-IT" dirty="0" err="1"/>
              <a:t>HeRoN</a:t>
            </a:r>
            <a:r>
              <a:rPr lang="it-IT" dirty="0"/>
              <a:t> è composta da tre attori che cooperano:</a:t>
            </a:r>
          </a:p>
          <a:p>
            <a:r>
              <a:rPr lang="it-IT" dirty="0"/>
              <a:t>il </a:t>
            </a:r>
            <a:r>
              <a:rPr lang="it-IT" dirty="0" err="1"/>
              <a:t>DQNAgent</a:t>
            </a:r>
            <a:r>
              <a:rPr lang="it-IT" dirty="0"/>
              <a:t> esegue e apprende politiche;</a:t>
            </a:r>
          </a:p>
          <a:p>
            <a:r>
              <a:rPr lang="it-IT" dirty="0"/>
              <a:t>l’</a:t>
            </a:r>
            <a:r>
              <a:rPr lang="it-IT" dirty="0" err="1"/>
              <a:t>Helper</a:t>
            </a:r>
            <a:r>
              <a:rPr lang="it-IT" dirty="0"/>
              <a:t> è un LLM zero‑shot che genera sequenze di azioni candidate;</a:t>
            </a:r>
          </a:p>
          <a:p>
            <a:r>
              <a:rPr lang="it-IT" dirty="0"/>
              <a:t>il </a:t>
            </a:r>
            <a:r>
              <a:rPr lang="it-IT" dirty="0" err="1"/>
              <a:t>Reviewer</a:t>
            </a:r>
            <a:r>
              <a:rPr lang="it-IT" dirty="0"/>
              <a:t> valuta e fornisce feedback per migliorare le proposte dell'</a:t>
            </a:r>
            <a:r>
              <a:rPr lang="it-IT" dirty="0" err="1"/>
              <a:t>Helper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5966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8C8C-73B5-3BB0-3028-3AE022D7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735FA2-767D-3289-5A09-82E48BBAE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A5782B2-51B3-E37B-52F4-917399452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Durante l'episodio un </a:t>
            </a:r>
            <a:r>
              <a:rPr lang="it-IT" dirty="0" err="1"/>
              <a:t>threshold</a:t>
            </a:r>
            <a:r>
              <a:rPr lang="it-IT" dirty="0"/>
              <a:t> controlla la probabilità di usare l’LLM:</a:t>
            </a:r>
          </a:p>
          <a:p>
            <a:r>
              <a:rPr lang="it-IT" dirty="0"/>
              <a:t>Spieghiamo in parole semplici cosa è theta. È una manopola numerica tra 0 e 1 che decide quanto spesso, durante l'allenamento, chiediamo aiuto all'LLM invece di lasciare il controllo al DQN. All'inizio impostiamo theta alto (per sfruttare i suggerimenti LLM), e ad ogni episodio lo riduciamo di una quantità delta fino a rendere l'LLM sempre meno presente: questo aiuta il DQN a imparare autonomamente.</a:t>
            </a:r>
          </a:p>
          <a:p>
            <a:r>
              <a:rPr lang="it-IT" dirty="0"/>
              <a:t>Usiamo una condizione di tipo probabilistico (es. `</a:t>
            </a:r>
            <a:r>
              <a:rPr lang="it-IT" dirty="0" err="1"/>
              <a:t>if</a:t>
            </a:r>
            <a:r>
              <a:rPr lang="it-IT" dirty="0"/>
              <a:t> random() &lt; theta: use LLM`) e applichiamo il decadimento *per episodio* con la formula indicata.</a:t>
            </a:r>
          </a:p>
          <a:p>
            <a:r>
              <a:rPr lang="it-IT" dirty="0"/>
              <a:t>Inoltre definiamo regole di re‑planning: ad esempio, sblocco di un achievement, salute critica o esaurimento di risorse attivano una nuova query LLM o un </a:t>
            </a:r>
            <a:r>
              <a:rPr lang="it-IT" dirty="0" err="1"/>
              <a:t>fallback</a:t>
            </a:r>
            <a:r>
              <a:rPr lang="it-IT" dirty="0"/>
              <a:t> immediato al DQN.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15F414-DA2D-5A54-761F-4E93BFCF0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728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Lo stato è un vettore compatto a 43 dimensioni: 16 valori per l'inventario che rappresentano risorse e strumenti, 2 per la posizione normalizzata, 3 per status come salute e giorno/notte, e 22 flag binarie per gli </a:t>
            </a:r>
            <a:r>
              <a:rPr lang="it-IT" dirty="0" err="1"/>
              <a:t>achievements</a:t>
            </a:r>
            <a:r>
              <a:rPr lang="it-IT" dirty="0"/>
              <a:t>.</a:t>
            </a:r>
          </a:p>
          <a:p>
            <a:r>
              <a:rPr lang="it-IT" dirty="0"/>
              <a:t>Questo formato è preferito al </a:t>
            </a:r>
            <a:r>
              <a:rPr lang="it-IT" dirty="0" err="1"/>
              <a:t>raw</a:t>
            </a:r>
            <a:r>
              <a:rPr lang="it-IT" dirty="0"/>
              <a:t> RGB perché fornisce informazioni semantiche rilevanti e stabilizza l'addestramento.</a:t>
            </a:r>
          </a:p>
          <a:p>
            <a:r>
              <a:rPr lang="it-IT" dirty="0"/>
              <a:t>Le azioni disponibili (17) spaziano dal movimento alle azioni contestuali come `do`, `</a:t>
            </a:r>
            <a:r>
              <a:rPr lang="it-IT" dirty="0" err="1"/>
              <a:t>sleep</a:t>
            </a:r>
            <a:r>
              <a:rPr lang="it-IT" dirty="0"/>
              <a:t>` o </a:t>
            </a:r>
            <a:r>
              <a:rPr lang="it-IT" dirty="0" err="1"/>
              <a:t>crafting</a:t>
            </a:r>
            <a:r>
              <a:rPr lang="it-IT" dirty="0"/>
              <a:t> (`make_*`).</a:t>
            </a:r>
          </a:p>
          <a:p>
            <a:r>
              <a:rPr lang="it-IT" dirty="0"/>
              <a:t>Per la ricompensa distinguiamo il `</a:t>
            </a:r>
            <a:r>
              <a:rPr lang="it-IT" dirty="0" err="1"/>
              <a:t>native_reward</a:t>
            </a:r>
            <a:r>
              <a:rPr lang="it-IT" dirty="0"/>
              <a:t>`, cioè il +1 per ogni achievement sbloccato, dallo `</a:t>
            </a:r>
            <a:r>
              <a:rPr lang="it-IT" dirty="0" err="1"/>
              <a:t>shaped_reward</a:t>
            </a:r>
            <a:r>
              <a:rPr lang="it-IT" dirty="0"/>
              <a:t>` che aggiunge bonus per raccolta risorse, gestione della salute, progressione di </a:t>
            </a:r>
            <a:r>
              <a:rPr lang="it-IT" dirty="0" err="1"/>
              <a:t>tier</a:t>
            </a:r>
            <a:r>
              <a:rPr lang="it-IT" dirty="0"/>
              <a:t> e uso di strumenti: lo shaping accelera l'apprendimento guidando l'agente verso comportamenti utili.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71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9FB1-801E-B198-999A-51A6E6DC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7414C8-9A2D-E6FE-6A3E-51AC72F6E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7684D9-D690-4DFD-22C2-F3B397632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Spieghiamo le ricompense in </a:t>
            </a:r>
            <a:r>
              <a:rPr lang="it-IT" dirty="0" err="1"/>
              <a:t>HeRoN</a:t>
            </a:r>
            <a:r>
              <a:rPr lang="it-IT" dirty="0"/>
              <a:t>. Il `</a:t>
            </a:r>
            <a:r>
              <a:rPr lang="it-IT" dirty="0" err="1"/>
              <a:t>native_reward</a:t>
            </a:r>
            <a:r>
              <a:rPr lang="it-IT" dirty="0"/>
              <a:t>` è sparso: solo +1 quando si sblocca un achievement, rendendo difficile l'apprendimento. Per accelerarlo, usiamo `</a:t>
            </a:r>
            <a:r>
              <a:rPr lang="it-IT" dirty="0" err="1"/>
              <a:t>shaped_reward</a:t>
            </a:r>
            <a:r>
              <a:rPr lang="it-IT" dirty="0"/>
              <a:t>` che aggiunge bonus incrementali: +0.1 per risorse raccolte, +0.05 per miglioramento salute, +0.05 per progressione </a:t>
            </a:r>
            <a:r>
              <a:rPr lang="it-IT" dirty="0" err="1"/>
              <a:t>tier</a:t>
            </a:r>
            <a:r>
              <a:rPr lang="it-IT" dirty="0"/>
              <a:t>, +0.02 per </a:t>
            </a:r>
            <a:r>
              <a:rPr lang="it-IT" dirty="0" err="1"/>
              <a:t>crafting</a:t>
            </a:r>
            <a:r>
              <a:rPr lang="it-IT" dirty="0"/>
              <a:t> strumenti. La formula combina tutto, guidando il DQN verso comportamenti utili senza alterare gli obiettivi finali. Questo riduce la varianza e accelera la convergenza del 47%.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303214-2A33-44CA-8E4B-60CBB7DFC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6105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Attraverso un'analisi sperimentale abbiamo testato diverse lunghezze di sequenza per trovare l'ottimale. La tabella mostra che con 1 azione si ottengono pochi achievement ma molte chiamate LLM, mentre con 5 azioni si massimizza l'efficienza bilanciando pianificazione e adattabilità. Il valore ottimale è risultato essere 5 azioni, che permette una buona pianificazione strategica senza ridurre troppo la flessibilità di re-planning e mantenendo l'overhead computazionale LLM accettabile.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7737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A01DE-A11F-1302-33BB-1A779496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1AC350-4233-E10F-1045-42916F703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8FBAE7-AE74-387D-47A8-C9A03A442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prompt engineering è cruciale per ottenere sequenze coerenti dall'LLM. Iniziamo con un prompt base che elenca le 17 azioni valide, richiede il formato </a:t>
            </a:r>
            <a:r>
              <a:rPr lang="it-IT" dirty="0" err="1"/>
              <a:t>bracketed</a:t>
            </a:r>
            <a:r>
              <a:rPr lang="it-IT" dirty="0"/>
              <a:t> e include esempi buoni (con azioni reali) e cattivi (con </a:t>
            </a:r>
            <a:r>
              <a:rPr lang="it-IT" dirty="0" err="1"/>
              <a:t>placeholder</a:t>
            </a:r>
            <a:r>
              <a:rPr lang="it-IT" dirty="0"/>
              <a:t> o azioni invalide). Per gestire gli errori, utilizziamo una TYPO_MAP per correggere variazioni comuni come '</a:t>
            </a:r>
            <a:r>
              <a:rPr lang="it-IT" dirty="0" err="1"/>
              <a:t>place_rock</a:t>
            </a:r>
            <a:r>
              <a:rPr lang="it-IT" dirty="0"/>
              <a:t>' in '</a:t>
            </a:r>
            <a:r>
              <a:rPr lang="it-IT" dirty="0" err="1"/>
              <a:t>place_stone</a:t>
            </a:r>
            <a:r>
              <a:rPr lang="it-IT" dirty="0"/>
              <a:t>'. Quando il </a:t>
            </a:r>
            <a:r>
              <a:rPr lang="it-IT" dirty="0" err="1"/>
              <a:t>Reviewer</a:t>
            </a:r>
            <a:r>
              <a:rPr lang="it-IT" dirty="0"/>
              <a:t> fornisce feedback, raffiniamo il prompt integrando le correzioni per migliorare le successive generazioni, assicurando che l'</a:t>
            </a:r>
            <a:r>
              <a:rPr lang="it-IT" dirty="0" err="1"/>
              <a:t>Helper</a:t>
            </a:r>
            <a:r>
              <a:rPr lang="it-IT" dirty="0"/>
              <a:t> produca azioni valide e strategiche.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903CFC-1E4E-6BCA-9209-53A4D783A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4495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dirty="0" err="1"/>
              <a:t>Reviewer</a:t>
            </a:r>
            <a:r>
              <a:rPr lang="it-IT" dirty="0"/>
              <a:t> è ottenuto tramite fine‑tuning su un dataset costruito ad hoc: registriamo stati di gioco, le azioni suggerite dall'</a:t>
            </a:r>
            <a:r>
              <a:rPr lang="it-IT" dirty="0" err="1"/>
              <a:t>Helper</a:t>
            </a:r>
            <a:r>
              <a:rPr lang="it-IT" dirty="0"/>
              <a:t>, l'esito di quelle azioni e i feedback correttivi generati manualmente o semi‑automaticamente.</a:t>
            </a:r>
          </a:p>
          <a:p>
            <a:r>
              <a:rPr lang="it-IT" dirty="0"/>
              <a:t>Il primo passo è il fine‑tuning con produce il modello. Successivamente possiamo usare quel modello come input per una fase di ottimizzazione tramite PPO per adattare policy o metriche interne.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720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valutare il sistema utilizziamo principalmente il numero di </a:t>
            </a:r>
            <a:r>
              <a:rPr lang="it-IT" dirty="0" err="1"/>
              <a:t>achievements</a:t>
            </a:r>
            <a:r>
              <a:rPr lang="it-IT" dirty="0"/>
              <a:t> medi per episodio, le curve di </a:t>
            </a:r>
            <a:r>
              <a:rPr lang="it-IT" dirty="0" err="1"/>
              <a:t>reward</a:t>
            </a:r>
            <a:r>
              <a:rPr lang="it-IT" dirty="0"/>
              <a:t> cumulativo e l'andamento delle metriche native vs </a:t>
            </a:r>
            <a:r>
              <a:rPr lang="it-IT" dirty="0" err="1"/>
              <a:t>shaped</a:t>
            </a:r>
            <a:r>
              <a:rPr lang="it-IT" dirty="0"/>
              <a:t> nel tempo. Gli script in `</a:t>
            </a:r>
            <a:r>
              <a:rPr lang="it-IT" dirty="0" err="1"/>
              <a:t>evaluation</a:t>
            </a:r>
            <a:r>
              <a:rPr lang="it-IT" dirty="0"/>
              <a:t>/` raccolgono e aggregano questi dati e generano plot comparativi in `</a:t>
            </a:r>
            <a:r>
              <a:rPr lang="it-IT" dirty="0" err="1"/>
              <a:t>evaluation_plots</a:t>
            </a:r>
            <a:r>
              <a:rPr lang="it-IT" dirty="0"/>
              <a:t>/`. È importante mostrare sia il comportamento grezzo (</a:t>
            </a:r>
            <a:r>
              <a:rPr lang="it-IT" dirty="0" err="1"/>
              <a:t>native_reward</a:t>
            </a:r>
            <a:r>
              <a:rPr lang="it-IT" dirty="0"/>
              <a:t>) sia lo </a:t>
            </a:r>
            <a:r>
              <a:rPr lang="it-IT" dirty="0" err="1"/>
              <a:t>shaped</a:t>
            </a:r>
            <a:r>
              <a:rPr lang="it-IT" dirty="0"/>
              <a:t> per capire se i miglioramenti derivano dallo shaping o dall'effettivo progresso di policy; questo permette anche analisi di tipo </a:t>
            </a:r>
            <a:r>
              <a:rPr lang="it-IT" dirty="0" err="1"/>
              <a:t>ablation</a:t>
            </a:r>
            <a:r>
              <a:rPr lang="it-IT" dirty="0"/>
              <a:t>. I risultati chiave mostrano che </a:t>
            </a:r>
            <a:r>
              <a:rPr lang="it-IT" dirty="0" err="1"/>
              <a:t>HeRoN</a:t>
            </a:r>
            <a:r>
              <a:rPr lang="it-IT" dirty="0"/>
              <a:t> ottiene 4.8 achievement medi per episodio rispetto ai 2.74 del DQN baseline, con un miglioramento del 75%, una coverage degli achievement del 72.7% contro il 36.4%, e una convergenza accelerata del 41.5%.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827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976A-3BA4-C633-C568-EC80741D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78E5F2-C91C-42A0-92AA-322DE9D84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F0477D3-D300-8669-530B-D9EE53771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valutare il sistema utilizziamo principalmente il numero di </a:t>
            </a:r>
            <a:r>
              <a:rPr lang="it-IT" dirty="0" err="1"/>
              <a:t>achievements</a:t>
            </a:r>
            <a:r>
              <a:rPr lang="it-IT" dirty="0"/>
              <a:t> medi per episodio, le curve di </a:t>
            </a:r>
            <a:r>
              <a:rPr lang="it-IT" dirty="0" err="1"/>
              <a:t>reward</a:t>
            </a:r>
            <a:r>
              <a:rPr lang="it-IT" dirty="0"/>
              <a:t> cumulativo e l'andamento delle metriche native vs </a:t>
            </a:r>
            <a:r>
              <a:rPr lang="it-IT" dirty="0" err="1"/>
              <a:t>shaped</a:t>
            </a:r>
            <a:r>
              <a:rPr lang="it-IT" dirty="0"/>
              <a:t> nel tempo. Gli script in `</a:t>
            </a:r>
            <a:r>
              <a:rPr lang="it-IT" dirty="0" err="1"/>
              <a:t>evaluation</a:t>
            </a:r>
            <a:r>
              <a:rPr lang="it-IT" dirty="0"/>
              <a:t>/` raccolgono e aggregano questi dati e generano plot comparativi in `</a:t>
            </a:r>
            <a:r>
              <a:rPr lang="it-IT" dirty="0" err="1"/>
              <a:t>evaluation_plots</a:t>
            </a:r>
            <a:r>
              <a:rPr lang="it-IT" dirty="0"/>
              <a:t>/`. È importante mostrare sia il comportamento grezzo (</a:t>
            </a:r>
            <a:r>
              <a:rPr lang="it-IT" dirty="0" err="1"/>
              <a:t>native_reward</a:t>
            </a:r>
            <a:r>
              <a:rPr lang="it-IT" dirty="0"/>
              <a:t>) sia lo </a:t>
            </a:r>
            <a:r>
              <a:rPr lang="it-IT" dirty="0" err="1"/>
              <a:t>shaped</a:t>
            </a:r>
            <a:r>
              <a:rPr lang="it-IT" dirty="0"/>
              <a:t> per capire se i miglioramenti derivano dallo shaping o dall'effettivo progresso di policy; questo permette anche analisi di tipo </a:t>
            </a:r>
            <a:r>
              <a:rPr lang="it-IT" dirty="0" err="1"/>
              <a:t>ablation</a:t>
            </a:r>
            <a:r>
              <a:rPr lang="it-IT" dirty="0"/>
              <a:t>. I risultati chiave mostrano che </a:t>
            </a:r>
            <a:r>
              <a:rPr lang="it-IT" dirty="0" err="1"/>
              <a:t>HeRoN</a:t>
            </a:r>
            <a:r>
              <a:rPr lang="it-IT" dirty="0"/>
              <a:t> ottiene 4.8 achievement medi per episodio rispetto ai 2.74 del DQN baseline, con un miglioramento del 75%, una coverage degli achievement del 72.7% contro il 36.4%, e una convergenza accelerata del 41.5%.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E3F039-A239-FA1A-C89E-ADCCAE73C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013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AB11-56DB-4675-F5FF-AD2F4827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343FCF-3537-157F-BBA1-9C2EAD237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7C0E1BB-6980-889C-8077-58D0756A5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valutare il sistema utilizziamo principalmente il numero di </a:t>
            </a:r>
            <a:r>
              <a:rPr lang="it-IT" dirty="0" err="1"/>
              <a:t>achievements</a:t>
            </a:r>
            <a:r>
              <a:rPr lang="it-IT" dirty="0"/>
              <a:t> medi per episodio, le curve di </a:t>
            </a:r>
            <a:r>
              <a:rPr lang="it-IT" dirty="0" err="1"/>
              <a:t>reward</a:t>
            </a:r>
            <a:r>
              <a:rPr lang="it-IT" dirty="0"/>
              <a:t> cumulativo e l'andamento delle metriche native vs </a:t>
            </a:r>
            <a:r>
              <a:rPr lang="it-IT" dirty="0" err="1"/>
              <a:t>shaped</a:t>
            </a:r>
            <a:r>
              <a:rPr lang="it-IT" dirty="0"/>
              <a:t> nel tempo. Gli script in `</a:t>
            </a:r>
            <a:r>
              <a:rPr lang="it-IT" dirty="0" err="1"/>
              <a:t>evaluation</a:t>
            </a:r>
            <a:r>
              <a:rPr lang="it-IT" dirty="0"/>
              <a:t>/` raccolgono e aggregano questi dati e generano plot comparativi in `</a:t>
            </a:r>
            <a:r>
              <a:rPr lang="it-IT" dirty="0" err="1"/>
              <a:t>evaluation_plots</a:t>
            </a:r>
            <a:r>
              <a:rPr lang="it-IT" dirty="0"/>
              <a:t>/`. È importante mostrare sia il comportamento grezzo (</a:t>
            </a:r>
            <a:r>
              <a:rPr lang="it-IT" dirty="0" err="1"/>
              <a:t>native_reward</a:t>
            </a:r>
            <a:r>
              <a:rPr lang="it-IT" dirty="0"/>
              <a:t>) sia lo </a:t>
            </a:r>
            <a:r>
              <a:rPr lang="it-IT" dirty="0" err="1"/>
              <a:t>shaped</a:t>
            </a:r>
            <a:r>
              <a:rPr lang="it-IT" dirty="0"/>
              <a:t> per capire se i miglioramenti derivano dallo shaping o dall'effettivo progresso di policy; questo permette anche analisi di tipo </a:t>
            </a:r>
            <a:r>
              <a:rPr lang="it-IT" dirty="0" err="1"/>
              <a:t>ablation</a:t>
            </a:r>
            <a:r>
              <a:rPr lang="it-IT" dirty="0"/>
              <a:t>. I risultati chiave mostrano che </a:t>
            </a:r>
            <a:r>
              <a:rPr lang="it-IT" dirty="0" err="1"/>
              <a:t>HeRoN</a:t>
            </a:r>
            <a:r>
              <a:rPr lang="it-IT" dirty="0"/>
              <a:t> ottiene 4.8 achievement medi per episodio rispetto ai 2.74 del DQN baseline, con un miglioramento del 75%, una coverage degli achievement del 72.7% contro il 36.4%, e una convergenza accelerata del 41.5%.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154F72-642A-E8D4-8BA0-2E882CE67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726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Durante l'implementazione abbiamo affrontato diverse challenge critiche. La </a:t>
            </a:r>
            <a:r>
              <a:rPr lang="it-IT" dirty="0" err="1"/>
              <a:t>sparsità</a:t>
            </a:r>
            <a:r>
              <a:rPr lang="it-IT" dirty="0"/>
              <a:t> del </a:t>
            </a:r>
            <a:r>
              <a:rPr lang="it-IT" dirty="0" err="1"/>
              <a:t>reward</a:t>
            </a:r>
            <a:r>
              <a:rPr lang="it-IT" dirty="0"/>
              <a:t> è stata risolta con un sistema di shaping multi-componente che aggiunge bonus per raccolta risorse, salute e </a:t>
            </a:r>
            <a:r>
              <a:rPr lang="it-IT" dirty="0" err="1"/>
              <a:t>crafting</a:t>
            </a:r>
            <a:r>
              <a:rPr lang="it-IT" dirty="0"/>
              <a:t>, migliorando gli achievement del 375% nei primi 100 episodi. Per le situazioni critiche abbiamo implementato re-planning basato su trigger come salute bassa o </a:t>
            </a:r>
            <a:r>
              <a:rPr lang="it-IT" dirty="0" err="1"/>
              <a:t>depletion</a:t>
            </a:r>
            <a:r>
              <a:rPr lang="it-IT" dirty="0"/>
              <a:t> risorse, riducendo il </a:t>
            </a:r>
            <a:r>
              <a:rPr lang="it-IT" dirty="0" err="1"/>
              <a:t>death</a:t>
            </a:r>
            <a:r>
              <a:rPr lang="it-IT" dirty="0"/>
              <a:t> rate da 38% a 7%. Le </a:t>
            </a:r>
            <a:r>
              <a:rPr lang="it-IT" dirty="0" err="1"/>
              <a:t>hallucinations</a:t>
            </a:r>
            <a:r>
              <a:rPr lang="it-IT" dirty="0"/>
              <a:t> e </a:t>
            </a:r>
            <a:r>
              <a:rPr lang="it-IT" dirty="0" err="1"/>
              <a:t>typos</a:t>
            </a:r>
            <a:r>
              <a:rPr lang="it-IT" dirty="0"/>
              <a:t> dell'LLM sono state gestite con una TYPO_MAP e validazione, aumentando le azioni valide da 87% a 98%. Infine, abbiamo ottimizzato la lunghezza delle sequenze a 3-5 azioni per bilanciare pianificazione strategica e capacità di adattamento.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9706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5E3B-6B99-6A99-0C18-049560C1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A3C2CB-995A-96D9-90FA-04B1A435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E12D26-D491-144E-CB8D-04BEBD922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conclusione, </a:t>
            </a:r>
            <a:r>
              <a:rPr lang="it-IT" dirty="0" err="1"/>
              <a:t>HeRoN</a:t>
            </a:r>
            <a:r>
              <a:rPr lang="it-IT" dirty="0"/>
              <a:t> rappresenta un'architettura innovativa che integra </a:t>
            </a:r>
            <a:r>
              <a:rPr lang="it-IT" dirty="0" err="1"/>
              <a:t>Reinforcement</a:t>
            </a:r>
            <a:r>
              <a:rPr lang="it-IT" dirty="0"/>
              <a:t> Learning con Large Language Models per creare NPC adattivi in ambienti complessi come </a:t>
            </a:r>
            <a:r>
              <a:rPr lang="it-IT" dirty="0" err="1"/>
              <a:t>Crafter</a:t>
            </a:r>
            <a:r>
              <a:rPr lang="it-IT" dirty="0"/>
              <a:t>. I risultati dimostrano miglioramenti significativi rispetto alla baseline DQN, con un aumento del 75% negli achievement medi e una convergenza accelerata. L'impatto principale è nella capacità di combinare apprendimento autonomo con ragionamento strategico guidato dall'LLM. Per gli sviluppi futuri, proponiamo pianificazione gerarchica per obiettivi distanti, </a:t>
            </a:r>
            <a:r>
              <a:rPr lang="it-IT" dirty="0" err="1"/>
              <a:t>threshold</a:t>
            </a:r>
            <a:r>
              <a:rPr lang="it-IT" dirty="0"/>
              <a:t> adattivi basati su performance, memoria episodica per strategie riuscite, estensioni a scenari multi-agent, multi modale </a:t>
            </a:r>
            <a:r>
              <a:rPr lang="it-IT" dirty="0" err="1"/>
              <a:t>llm</a:t>
            </a:r>
            <a:r>
              <a:rPr lang="it-IT" dirty="0"/>
              <a:t>, algoritmi ibridi. Questo lavoro apre la strada a agenti intelligenti più flessibili e capaci in giochi e applicazioni reali.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19F057-F926-4BF2-D589-34B157713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29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Grazie per l'attenzione. Siamo Danilo e Vincenzo, e siamo felici di rispondere a qualsiasi domanda sui dettagli implementativi, risultati o sviluppi futuri. Grazie ancora!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BEC60-B781-4BC8-A7BD-9914EA908A8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7234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D1E40-9BF0-EED2-CB42-36DB9148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C10106-3262-07AF-A14D-F842B5DF2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F218E8-A1C5-DA9C-F170-2B5E35F0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3E5-4F0D-4512-BEC3-82F76518B59B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399F2-3BA9-C36E-3E88-FB8C840B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386128-1F42-2655-6D4B-36AB5C72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60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BAA78-0201-41BC-81CC-B777DE3B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72FE5E-1A85-9109-FDDC-5591FA76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FC5EBA-DB93-ACAC-DE26-A2E63526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1D4F-AEB6-4EE8-A5F6-8B998F1CF099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40E23-CECD-3AB3-1A99-F2DCAC3B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E885EE-2CAD-582B-2078-98FEFF61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944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5B0707-9263-E801-7C90-9E71AE70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B6D024-32BC-3386-E35C-8D9D41DAF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375A69-B9DA-F9EE-715E-0E6A5E09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ABAE-ADB5-4A8B-B975-1841E3208118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605B05-4A29-D846-EE4B-9A9F4DD5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1E1FFD-A533-ADCE-E005-D147ED37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4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13038A-917D-BA07-955D-3207F992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65CF9D-3FA4-E846-FEF9-2F81EFB26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FE5067F-31EA-49BC-A710-FEAC33DA4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9F0983-9FA9-B637-01DA-31574317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9DB6-658A-4D09-B4C4-74432BF66904}" type="datetime1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ABEAD1C-872B-879C-9F89-194DF6A4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A7B0047-93B7-6146-26A9-CADEDE03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591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2E8E45-7462-FCD3-C5BE-462ADBFD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DE0BB2-C214-0F8D-8481-AE294D8F1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7D05D8-FF4B-F4A3-1B2B-7343EDCA1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8B0175A-0CC2-26F6-3F59-FF7816A66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0C979A5-7449-94E1-BD2D-B25F5E01C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1C194BD-02C2-6222-295B-A26D776E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A1541-82CB-4F7A-97BF-BF8EE4112718}" type="datetime1">
              <a:rPr lang="it-IT" smtClean="0"/>
              <a:t>20/11/2025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1180142-69C3-6083-D6CE-6F59D777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DDE3782-43D5-7CCB-6955-DF73F0C8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70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0D400-8CCA-C5B2-CB3B-EA946F1F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48F35C4-736F-1866-F3EE-43876FC9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C964-5229-464F-827F-9EFBD4257E4B}" type="datetime1">
              <a:rPr lang="it-IT" smtClean="0"/>
              <a:t>20/11/2025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2487EE-4A47-D854-0B24-28740A29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80629B5-DDFE-E233-2B46-019DFA68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64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6F0ABD6-C604-4FCF-74E6-87A2386E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8961-DF71-41B5-8621-D067B77A0DF4}" type="datetime1">
              <a:rPr lang="it-IT" smtClean="0"/>
              <a:t>20/11/2025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F109F6E-0609-5C11-AB03-D4D171F2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B7C1E3-B775-2CD1-AAED-ABFB521F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615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29308-3284-E18D-18A0-94B521B1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1F4AAC-6AD1-BF74-7F6A-E74414FB0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AA0378-736A-66B3-C64D-B8DBEEEBF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1E0C91C-58AB-B23D-82E2-951C0E96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74E3-D4C8-4824-9808-CABD114B6BDF}" type="datetime1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86B063A-D245-ED00-DC49-E30281BB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8F18E8-A3DD-3F81-1DE7-B0D0DDDA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809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B115D-8A4E-5AFD-386A-4774D87C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6915F84-DE63-1B9F-074C-F8C452CF7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C9F2FF7-4B8D-C9EB-64C0-95802A258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B790AC0-9E68-FCC2-82CB-D21A95530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1479-FD23-4285-AA75-5FD05CB27538}" type="datetime1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CC3325-3603-AE82-54E1-E4A2F9F2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2D39B4-A75D-049C-1EAA-DB554AC5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621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11B54-28B4-8511-B7DA-DAACC674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1D67439-7E38-995B-AC0B-B11365716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F7DDD4-23ED-7FD5-D5D0-AE3ACFF7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77D4-2964-40FB-8A55-976F692F37C8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7DCD0E-8379-577C-E178-1660A097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11F1F4-CF5C-B628-9E20-6DD80A51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451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784FCEF-3521-F836-C844-A29BD2E0A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CEC856B-5988-BA27-B14E-5E61F846E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EF6D35-83C2-A2D7-3C12-324B2D40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04DE-221B-4D0F-8158-88B6F59543CE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A9187B-E32B-86A9-2E6D-E9A003AD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95F022-138C-5765-91BE-D2FB2B34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356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844D6BD-91F7-5E5F-67D9-AB2073C9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7BBEF4-C90C-5CC0-369F-DED163414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2BD160-5672-C1A7-D3F6-A13826843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D1531-6E55-4646-BD07-D11B2533C826}" type="datetime1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C7C6-6D22-50DA-0426-CF4CD295A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11A9C5-1E42-4410-0D5F-04DFE3EC6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FE350-E4FF-43F1-9343-8DDB4FE36F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86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80CF7BAC-6115-349E-AED9-294E60123CCF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pic>
        <p:nvPicPr>
          <p:cNvPr id="3" name="Immagine 2" descr="Immagine che contiene cerchio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903F5CC2-A2E5-637F-4F46-019B6438F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942" y="-371940"/>
            <a:ext cx="2233927" cy="223392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926177F-19A2-0FF5-FD17-53DA7F830105}"/>
              </a:ext>
            </a:extLst>
          </p:cNvPr>
          <p:cNvSpPr txBox="1">
            <a:spLocks/>
          </p:cNvSpPr>
          <p:nvPr/>
        </p:nvSpPr>
        <p:spPr>
          <a:xfrm>
            <a:off x="1732800" y="3328558"/>
            <a:ext cx="8726400" cy="55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latin typeface="Aharoni" panose="02010803020104030203" pitchFamily="2" charset="-79"/>
                <a:cs typeface="Aharoni" panose="02010803020104030203" pitchFamily="2" charset="-79"/>
              </a:rPr>
              <a:t>Intelligenza</a:t>
            </a: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200" dirty="0" err="1">
                <a:latin typeface="Aharoni" panose="02010803020104030203" pitchFamily="2" charset="-79"/>
                <a:cs typeface="Aharoni" panose="02010803020104030203" pitchFamily="2" charset="-79"/>
              </a:rPr>
              <a:t>Artificiale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28F251-1026-A8B9-E516-F02951F8872F}"/>
              </a:ext>
            </a:extLst>
          </p:cNvPr>
          <p:cNvSpPr txBox="1"/>
          <p:nvPr/>
        </p:nvSpPr>
        <p:spPr>
          <a:xfrm>
            <a:off x="2679290" y="5308722"/>
            <a:ext cx="683341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Danilo Gisolfi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–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0522502001</a:t>
            </a:r>
          </a:p>
          <a:p>
            <a:pPr algn="ctr"/>
            <a:r>
              <a:rPr lang="it-IT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Vincenzo Maiellaro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–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0522502055</a:t>
            </a:r>
          </a:p>
          <a:p>
            <a:pPr algn="ctr"/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A.A. 2025-2026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BFBF4F1-B872-9BC6-8AE0-0773757AB5F1}"/>
              </a:ext>
            </a:extLst>
          </p:cNvPr>
          <p:cNvSpPr txBox="1">
            <a:spLocks/>
          </p:cNvSpPr>
          <p:nvPr/>
        </p:nvSpPr>
        <p:spPr>
          <a:xfrm>
            <a:off x="1732800" y="1154314"/>
            <a:ext cx="8726400" cy="1774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96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rona One"/>
              <a:buNone/>
              <a:defRPr sz="6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Adaptive decision making NPC in Crafter</a:t>
            </a:r>
          </a:p>
        </p:txBody>
      </p:sp>
      <p:pic>
        <p:nvPicPr>
          <p:cNvPr id="14" name="Immagine 13" descr="Immagine che contiene schermata,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413A3125-F3D8-0693-A5E6-981EAC699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4" y="4835314"/>
            <a:ext cx="2064851" cy="2064851"/>
          </a:xfrm>
          <a:prstGeom prst="rect">
            <a:avLst/>
          </a:prstGeom>
        </p:spPr>
      </p:pic>
      <p:pic>
        <p:nvPicPr>
          <p:cNvPr id="12" name="Immagine 11" descr="Immagine che contiene Elementi grafici, clipart, grafica, cerchio&#10;&#10;Il contenuto generato dall'IA potrebbe non essere corretto.">
            <a:extLst>
              <a:ext uri="{FF2B5EF4-FFF2-40B4-BE49-F238E27FC236}">
                <a16:creationId xmlns:a16="http://schemas.microsoft.com/office/drawing/2014/main" id="{053650B3-284F-28DE-2D84-4E0CFFE46A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598" y="3883225"/>
            <a:ext cx="2615204" cy="261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0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E20A3029-B567-5FB5-7A64-051739B89CB5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E9D86685-C3BA-FE40-3B26-5D0C0253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CONTESTO E MOTIVAZIONE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92F7793-00B7-AE56-98F7-D34242E01CF7}"/>
              </a:ext>
            </a:extLst>
          </p:cNvPr>
          <p:cNvSpPr txBox="1"/>
          <p:nvPr/>
        </p:nvSpPr>
        <p:spPr>
          <a:xfrm>
            <a:off x="570084" y="1919257"/>
            <a:ext cx="3224585" cy="92333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accent4"/>
                </a:solidFill>
                <a:effectLst/>
                <a:latin typeface="Bahnschrift Light" panose="020B0502040204020203" pitchFamily="34" charset="0"/>
              </a:rPr>
              <a:t>Crafter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: open-world survival game per </a:t>
            </a:r>
            <a:r>
              <a:rPr lang="en-US" i="0" dirty="0" err="1">
                <a:effectLst/>
                <a:latin typeface="Bahnschrift Light" panose="020B0502040204020203" pitchFamily="34" charset="0"/>
              </a:rPr>
              <a:t>ricerca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 RL (simile a Minecraft)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12576A6-D02B-7F68-FA8A-DCE6B6289FC9}"/>
              </a:ext>
            </a:extLst>
          </p:cNvPr>
          <p:cNvSpPr txBox="1"/>
          <p:nvPr/>
        </p:nvSpPr>
        <p:spPr>
          <a:xfrm>
            <a:off x="4541904" y="1780757"/>
            <a:ext cx="3081644" cy="120032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b="1" i="0" dirty="0">
                <a:solidFill>
                  <a:schemeClr val="accent4"/>
                </a:solidFill>
                <a:effectLst/>
                <a:latin typeface="Bahnschrift Light" panose="020B0502040204020203" pitchFamily="34" charset="0"/>
              </a:rPr>
              <a:t>Problema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: progettare NPC adattivi che prendano decisioni sequenziali efficaci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48C0FAD-F2CA-67DA-A7D7-0B7A6DC966EE}"/>
              </a:ext>
            </a:extLst>
          </p:cNvPr>
          <p:cNvSpPr txBox="1"/>
          <p:nvPr/>
        </p:nvSpPr>
        <p:spPr>
          <a:xfrm>
            <a:off x="8370783" y="1919257"/>
            <a:ext cx="3364216" cy="92333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b="1" i="0" dirty="0">
                <a:solidFill>
                  <a:schemeClr val="accent4"/>
                </a:solidFill>
                <a:effectLst/>
                <a:latin typeface="Bahnschrift Light" panose="020B0502040204020203" pitchFamily="34" charset="0"/>
              </a:rPr>
              <a:t>Approccio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: integrare RL (DQN) con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LLMs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(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Helper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zero-shot +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Reviewer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fine-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tuned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)</a:t>
            </a:r>
          </a:p>
        </p:txBody>
      </p:sp>
      <p:pic>
        <p:nvPicPr>
          <p:cNvPr id="11" name="Immagine 10" descr="Immagine che contiene Elementi grafici, clipart, grafica, Policromia&#10;&#10;Il contenuto generato dall'IA potrebbe non essere corretto.">
            <a:extLst>
              <a:ext uri="{FF2B5EF4-FFF2-40B4-BE49-F238E27FC236}">
                <a16:creationId xmlns:a16="http://schemas.microsoft.com/office/drawing/2014/main" id="{16A6391D-4D29-DF34-FB36-E0D3909BB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159" y="3556290"/>
            <a:ext cx="1759464" cy="1759464"/>
          </a:xfrm>
          <a:prstGeom prst="rect">
            <a:avLst/>
          </a:prstGeom>
        </p:spPr>
      </p:pic>
      <p:pic>
        <p:nvPicPr>
          <p:cNvPr id="13" name="Immagine 12" descr="Immagine che contiene clipart, simbolo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40C0724F-9A2E-1BA9-4B3D-F1789A818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179" y="3764112"/>
            <a:ext cx="1551642" cy="1551642"/>
          </a:xfrm>
          <a:prstGeom prst="rect">
            <a:avLst/>
          </a:prstGeom>
        </p:spPr>
      </p:pic>
      <p:pic>
        <p:nvPicPr>
          <p:cNvPr id="15" name="Immagine 14" descr="Immagine che contiene creatività&#10;&#10;Il contenuto generato dall'IA potrebbe non essere corretto.">
            <a:extLst>
              <a:ext uri="{FF2B5EF4-FFF2-40B4-BE49-F238E27FC236}">
                <a16:creationId xmlns:a16="http://schemas.microsoft.com/office/drawing/2014/main" id="{49F30D79-1030-1295-8D0B-4588A4CF0C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62" y="3239593"/>
            <a:ext cx="1551642" cy="1551642"/>
          </a:xfrm>
          <a:prstGeom prst="rect">
            <a:avLst/>
          </a:prstGeom>
        </p:spPr>
      </p:pic>
      <p:pic>
        <p:nvPicPr>
          <p:cNvPr id="17" name="Immagine 16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B9BA37AE-F0FB-20BF-D1C8-9A7938EB3C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82" y="4039949"/>
            <a:ext cx="1551642" cy="1551642"/>
          </a:xfrm>
          <a:prstGeom prst="rect">
            <a:avLst/>
          </a:prstGeom>
        </p:spPr>
      </p:pic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D8BEE702-EBFF-4B2B-F5FB-5D3A11615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2</a:t>
            </a:fld>
            <a:endParaRPr lang="it-IT"/>
          </a:p>
        </p:txBody>
      </p:sp>
      <p:pic>
        <p:nvPicPr>
          <p:cNvPr id="3" name="Immagine 2" descr="Immagine che contiene Elementi grafici, simbolo, Carattere, clipart&#10;&#10;Il contenuto generato dall'IA potrebbe non essere corretto.">
            <a:extLst>
              <a:ext uri="{FF2B5EF4-FFF2-40B4-BE49-F238E27FC236}">
                <a16:creationId xmlns:a16="http://schemas.microsoft.com/office/drawing/2014/main" id="{550522BA-6E0F-8891-C39A-0400EF6454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309" y="136525"/>
            <a:ext cx="415891" cy="41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0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0E51-A5F9-0918-195E-E1831907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6BB091D0-ECE2-D9DD-1EEA-208F10082C1A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1136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490BF6BF-336A-844B-8093-D65CFA91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OBIETTIVI DEL PROGETTO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756CA6-BCFD-D614-D811-E725600E5C5C}"/>
              </a:ext>
            </a:extLst>
          </p:cNvPr>
          <p:cNvSpPr txBox="1"/>
          <p:nvPr/>
        </p:nvSpPr>
        <p:spPr>
          <a:xfrm>
            <a:off x="1251267" y="965744"/>
            <a:ext cx="2575710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Fine-tuning del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Reviewer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per i task di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Crafter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459DB9-E8ED-C7A2-5DFF-EFB24D2499E3}"/>
              </a:ext>
            </a:extLst>
          </p:cNvPr>
          <p:cNvSpPr txBox="1"/>
          <p:nvPr/>
        </p:nvSpPr>
        <p:spPr>
          <a:xfrm>
            <a:off x="8324158" y="975411"/>
            <a:ext cx="2575710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Modifica dell’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Helper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per generare sequenze di azioni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E4EF95-01C4-4C98-FEA9-D99B2EE1554B}"/>
              </a:ext>
            </a:extLst>
          </p:cNvPr>
          <p:cNvSpPr txBox="1"/>
          <p:nvPr/>
        </p:nvSpPr>
        <p:spPr>
          <a:xfrm>
            <a:off x="763561" y="3950684"/>
            <a:ext cx="3551122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Implementazione e addestramento dell’NPC (DQN)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94094D-BF82-463E-0759-2781E817ABD4}"/>
              </a:ext>
            </a:extLst>
          </p:cNvPr>
          <p:cNvSpPr txBox="1"/>
          <p:nvPr/>
        </p:nvSpPr>
        <p:spPr>
          <a:xfrm>
            <a:off x="8002267" y="3950684"/>
            <a:ext cx="321949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Valutazione delle prestazioni di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HeRoN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rispetto a baseline</a:t>
            </a:r>
          </a:p>
        </p:txBody>
      </p:sp>
      <p:pic>
        <p:nvPicPr>
          <p:cNvPr id="11" name="Immagine 10" descr="Immagine che contiene schermata, cerchio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C10AE83D-970E-DADA-A5B1-1598B00F5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784" y="4836321"/>
            <a:ext cx="1459922" cy="1459922"/>
          </a:xfrm>
          <a:prstGeom prst="rect">
            <a:avLst/>
          </a:prstGeom>
        </p:spPr>
      </p:pic>
      <p:pic>
        <p:nvPicPr>
          <p:cNvPr id="13" name="Immagine 12" descr="Immagine che contiene schermata, Policromia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0A6F26B-49F6-D8E5-09E0-D8297D9E34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61" y="4865104"/>
            <a:ext cx="1459922" cy="1459922"/>
          </a:xfrm>
          <a:prstGeom prst="rect">
            <a:avLst/>
          </a:prstGeom>
        </p:spPr>
      </p:pic>
      <p:pic>
        <p:nvPicPr>
          <p:cNvPr id="15" name="Immagine 14" descr="Immagine che contiene schermata, Carattere,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A64DBA1-9803-2A96-DF4B-58BCB65252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988" y="2151155"/>
            <a:ext cx="1372049" cy="1372049"/>
          </a:xfrm>
          <a:prstGeom prst="rect">
            <a:avLst/>
          </a:prstGeom>
        </p:spPr>
      </p:pic>
      <p:pic>
        <p:nvPicPr>
          <p:cNvPr id="17" name="Immagine 16" descr="Immagine che contiene Elementi grafici, grafica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821EA071-2EA9-F243-14E2-5711222CF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24" y="2142590"/>
            <a:ext cx="1372050" cy="1372050"/>
          </a:xfrm>
          <a:prstGeom prst="rect">
            <a:avLst/>
          </a:prstGeom>
        </p:spPr>
      </p:pic>
      <p:pic>
        <p:nvPicPr>
          <p:cNvPr id="19" name="Immagine 18" descr="Immagine che contiene logo,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DB6452A6-651F-1810-BA0C-E6B646D0C6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120" y="5689212"/>
            <a:ext cx="690892" cy="690892"/>
          </a:xfrm>
          <a:prstGeom prst="rect">
            <a:avLst/>
          </a:prstGeom>
        </p:spPr>
      </p:pic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8F94A870-46F3-C112-970F-A4227920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3</a:t>
            </a:fld>
            <a:endParaRPr lang="it-IT"/>
          </a:p>
        </p:txBody>
      </p:sp>
      <p:pic>
        <p:nvPicPr>
          <p:cNvPr id="12" name="Immagine 11" descr="Immagine che contiene clipart, cartone animato, arte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81D1EEAF-6AB1-095B-0D86-706F3FB36A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35" y="112883"/>
            <a:ext cx="423877" cy="4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2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FFBC-FC94-6212-D10E-0F2CF730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43094767-3130-D4F0-EFC7-CDEA083E9BDF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ED6BC5F1-256E-4359-7162-70E9D495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ARCHITETTURA </a:t>
            </a:r>
            <a:r>
              <a:rPr lang="it-IT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HeRoN</a:t>
            </a: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EAE514-233C-FB91-B3DB-6CED154CBC48}"/>
              </a:ext>
            </a:extLst>
          </p:cNvPr>
          <p:cNvSpPr txBox="1"/>
          <p:nvPr/>
        </p:nvSpPr>
        <p:spPr>
          <a:xfrm>
            <a:off x="1130132" y="1919257"/>
            <a:ext cx="2575710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000" i="0" dirty="0" err="1">
                <a:effectLst/>
                <a:latin typeface="Bahnschrift Light" panose="020B0502040204020203" pitchFamily="34" charset="0"/>
              </a:rPr>
              <a:t>DQNAgent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76899BA-7FC0-4BAB-B0B3-A0CA86478562}"/>
              </a:ext>
            </a:extLst>
          </p:cNvPr>
          <p:cNvSpPr txBox="1"/>
          <p:nvPr/>
        </p:nvSpPr>
        <p:spPr>
          <a:xfrm>
            <a:off x="4794871" y="1919257"/>
            <a:ext cx="2575710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latinLnBrk="0">
              <a:buNone/>
            </a:pPr>
            <a:r>
              <a:rPr lang="it-IT" sz="2000" i="0" dirty="0" err="1">
                <a:effectLst/>
                <a:latin typeface="Bahnschrift Light" panose="020B0502040204020203" pitchFamily="34" charset="0"/>
              </a:rPr>
              <a:t>Helper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0F01075-7A37-6FCB-7C42-643BDEC86D33}"/>
              </a:ext>
            </a:extLst>
          </p:cNvPr>
          <p:cNvSpPr txBox="1"/>
          <p:nvPr/>
        </p:nvSpPr>
        <p:spPr>
          <a:xfrm>
            <a:off x="8459610" y="1919257"/>
            <a:ext cx="2575710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latinLnBrk="0">
              <a:buNone/>
            </a:pPr>
            <a:r>
              <a:rPr lang="it-IT" sz="2000" i="0" dirty="0" err="1">
                <a:effectLst/>
                <a:latin typeface="Bahnschrift Light" panose="020B0502040204020203" pitchFamily="34" charset="0"/>
              </a:rPr>
              <a:t>Reviewer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3" name="Immagine 2" descr="Immagine che contiene Elementi grafici, clipart, grafic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24DB4C77-B070-D9FA-ED6F-9351F6F72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214" y="3086477"/>
            <a:ext cx="1548136" cy="1548136"/>
          </a:xfrm>
          <a:prstGeom prst="rect">
            <a:avLst/>
          </a:prstGeom>
        </p:spPr>
      </p:pic>
      <p:pic>
        <p:nvPicPr>
          <p:cNvPr id="10" name="Immagine 9" descr="Immagine che contiene Elementi grafici, cerchio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87D16D58-6BB0-A0A1-0355-26150BC1F4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330" y="3152593"/>
            <a:ext cx="1548135" cy="1548135"/>
          </a:xfrm>
          <a:prstGeom prst="rect">
            <a:avLst/>
          </a:prstGeom>
        </p:spPr>
      </p:pic>
      <p:pic>
        <p:nvPicPr>
          <p:cNvPr id="12" name="Immagine 11" descr="Immagine che contiene schermat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822F8E8E-8328-8A2F-91D2-C6CA6CCC1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936" y="2712518"/>
            <a:ext cx="1651252" cy="1651252"/>
          </a:xfrm>
          <a:prstGeom prst="rect">
            <a:avLst/>
          </a:prstGeom>
        </p:spPr>
      </p:pic>
      <p:pic>
        <p:nvPicPr>
          <p:cNvPr id="14" name="Immagine 13" descr="Immagine che contiene clipart, Elementi grafici, silhouette, creatività&#10;&#10;Il contenuto generato dall'IA potrebbe non essere corretto.">
            <a:extLst>
              <a:ext uri="{FF2B5EF4-FFF2-40B4-BE49-F238E27FC236}">
                <a16:creationId xmlns:a16="http://schemas.microsoft.com/office/drawing/2014/main" id="{61B0A19F-129F-4EE2-446D-48304337A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566261"/>
            <a:ext cx="1268720" cy="1268720"/>
          </a:xfrm>
          <a:prstGeom prst="rect">
            <a:avLst/>
          </a:prstGeom>
        </p:spPr>
      </p:pic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71FDAA4-6DD4-170D-D1F2-75F1AA79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4</a:t>
            </a:fld>
            <a:endParaRPr lang="it-IT"/>
          </a:p>
        </p:txBody>
      </p:sp>
      <p:pic>
        <p:nvPicPr>
          <p:cNvPr id="6" name="Immagine 5" descr="Immagine che contiene schermata, design, cerchio, Policromia&#10;&#10;Il contenuto generato dall'IA potrebbe non essere corretto.">
            <a:extLst>
              <a:ext uri="{FF2B5EF4-FFF2-40B4-BE49-F238E27FC236}">
                <a16:creationId xmlns:a16="http://schemas.microsoft.com/office/drawing/2014/main" id="{6ED4C329-C2B7-7835-4DC9-6C5F2275B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161" y="108148"/>
            <a:ext cx="505597" cy="50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7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3BB6-3438-569E-A5E8-5FFE00F1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25295C2B-091C-CB58-AB7C-020161B9AA32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B1406248-D4F9-44DC-15DC-34AEC0AB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THRESHOLD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CCDAE6-6524-39FA-BF57-45BD54ECD0DC}"/>
              </a:ext>
            </a:extLst>
          </p:cNvPr>
          <p:cNvSpPr txBox="1"/>
          <p:nvPr/>
        </p:nvSpPr>
        <p:spPr>
          <a:xfrm>
            <a:off x="1130132" y="1919257"/>
            <a:ext cx="2575710" cy="7078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000" dirty="0">
                <a:latin typeface="Bahnschrift Light" panose="020B0502040204020203" pitchFamily="34" charset="0"/>
              </a:rPr>
              <a:t>Decadimento per episodio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9FDCB14-2597-CFF5-62B4-97DA1989A109}"/>
              </a:ext>
            </a:extLst>
          </p:cNvPr>
          <p:cNvSpPr txBox="1"/>
          <p:nvPr/>
        </p:nvSpPr>
        <p:spPr>
          <a:xfrm>
            <a:off x="4794871" y="1919257"/>
            <a:ext cx="2575710" cy="7078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000" dirty="0">
                <a:latin typeface="Bahnschrift Light" panose="020B0502040204020203" pitchFamily="34" charset="0"/>
              </a:rPr>
              <a:t>Decisione probabilistica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E2966A1-12F0-1AC0-DFEF-A719802A4ADD}"/>
              </a:ext>
            </a:extLst>
          </p:cNvPr>
          <p:cNvSpPr txBox="1"/>
          <p:nvPr/>
        </p:nvSpPr>
        <p:spPr>
          <a:xfrm>
            <a:off x="8459610" y="1919257"/>
            <a:ext cx="2575710" cy="7078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000" dirty="0">
                <a:latin typeface="Bahnschrift Light" panose="020B0502040204020203" pitchFamily="34" charset="0"/>
              </a:rPr>
              <a:t>Regola di re-planning</a:t>
            </a:r>
            <a:endParaRPr lang="it-IT" sz="2000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604FAECC-82CE-504C-1902-35CB64AB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5</a:t>
            </a:fld>
            <a:endParaRPr lang="it-IT"/>
          </a:p>
        </p:txBody>
      </p:sp>
      <p:pic>
        <p:nvPicPr>
          <p:cNvPr id="6" name="Immagine 5" descr="Immagine che contiene Carattere, testo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D8CB4B88-C615-E967-6293-C71ABFE2EF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424"/>
          <a:stretch>
            <a:fillRect/>
          </a:stretch>
        </p:blipFill>
        <p:spPr>
          <a:xfrm>
            <a:off x="1033851" y="4654282"/>
            <a:ext cx="2505075" cy="42473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Immagine 12" descr="Immagine che contiene testo, Carattere, tipografia, bianco&#10;&#10;Il contenuto generato dall'IA potrebbe non essere corretto.">
            <a:extLst>
              <a:ext uri="{FF2B5EF4-FFF2-40B4-BE49-F238E27FC236}">
                <a16:creationId xmlns:a16="http://schemas.microsoft.com/office/drawing/2014/main" id="{B7DF07C9-BDAC-BB52-7855-92E0A69CC7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247"/>
          <a:stretch>
            <a:fillRect/>
          </a:stretch>
        </p:blipFill>
        <p:spPr>
          <a:xfrm>
            <a:off x="3967686" y="4654282"/>
            <a:ext cx="4019550" cy="42473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Immagine 18" descr="Immagine che contiene schermata, cerchi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3425C5A4-3B53-AC2E-421E-E1FC187185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455" y="78693"/>
            <a:ext cx="498405" cy="498405"/>
          </a:xfrm>
          <a:prstGeom prst="rect">
            <a:avLst/>
          </a:prstGeom>
        </p:spPr>
      </p:pic>
      <p:pic>
        <p:nvPicPr>
          <p:cNvPr id="21" name="Immagine 20" descr="Immagine che contiene cerchio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40D0E300-5157-9C78-5D3E-F4EFF812DD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18" y="2829404"/>
            <a:ext cx="1265815" cy="1265815"/>
          </a:xfrm>
          <a:prstGeom prst="rect">
            <a:avLst/>
          </a:prstGeom>
        </p:spPr>
      </p:pic>
      <p:pic>
        <p:nvPicPr>
          <p:cNvPr id="23" name="Immagine 22" descr="Immagine che contiene schermata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F0AE67EE-97FC-44C3-EFD9-846967A2B3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651" y="2829403"/>
            <a:ext cx="1265816" cy="1265816"/>
          </a:xfrm>
          <a:prstGeom prst="rect">
            <a:avLst/>
          </a:prstGeom>
        </p:spPr>
      </p:pic>
      <p:pic>
        <p:nvPicPr>
          <p:cNvPr id="25" name="Immagine 24" descr="Immagine che contiene orologi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7D0FA2F2-014E-4306-FD09-E4B0B43EEC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010" y="2798518"/>
            <a:ext cx="1513954" cy="1513954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C3D1EF2E-B1D0-2E89-9C29-5BA86A5A80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5997" y="4654282"/>
            <a:ext cx="3132406" cy="42473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064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2394-0973-0204-6950-31E0C572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98230E52-CC26-B574-DE52-C4E2CD70A73A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ACE2BE1D-8974-F5DF-977C-1896D49D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STATO, AZIONI, RICOMPENSE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9B2E6F-6BBF-BCC8-A5AD-E40AA0F8DB63}"/>
              </a:ext>
            </a:extLst>
          </p:cNvPr>
          <p:cNvSpPr txBox="1"/>
          <p:nvPr/>
        </p:nvSpPr>
        <p:spPr>
          <a:xfrm>
            <a:off x="116106" y="1919256"/>
            <a:ext cx="421545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b="1" i="0" dirty="0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Stato (43-dim)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: 16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inventory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+ 2 posizione + 3 status + 22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achievements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4237C2-8688-81FA-92F1-59CF4458A4B0}"/>
              </a:ext>
            </a:extLst>
          </p:cNvPr>
          <p:cNvSpPr txBox="1"/>
          <p:nvPr/>
        </p:nvSpPr>
        <p:spPr>
          <a:xfrm>
            <a:off x="4794871" y="1919257"/>
            <a:ext cx="2909628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 err="1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Azioni</a:t>
            </a:r>
            <a:r>
              <a:rPr lang="en-US" b="1" i="0" dirty="0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 (17)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: </a:t>
            </a:r>
            <a:r>
              <a:rPr lang="en-US" i="0" dirty="0" err="1">
                <a:effectLst/>
                <a:latin typeface="Bahnschrift Light" panose="020B0502040204020203" pitchFamily="34" charset="0"/>
              </a:rPr>
              <a:t>noop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, move, do, sleep, place, make, ….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A72D08E-DA49-14F8-A221-8318F75E1FB8}"/>
              </a:ext>
            </a:extLst>
          </p:cNvPr>
          <p:cNvSpPr txBox="1"/>
          <p:nvPr/>
        </p:nvSpPr>
        <p:spPr>
          <a:xfrm>
            <a:off x="8459609" y="1919257"/>
            <a:ext cx="3152969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 err="1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Ricompense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: </a:t>
            </a:r>
            <a:r>
              <a:rPr lang="en-US" i="0" dirty="0" err="1">
                <a:effectLst/>
                <a:latin typeface="Bahnschrift Light" panose="020B0502040204020203" pitchFamily="34" charset="0"/>
              </a:rPr>
              <a:t>native_reward</a:t>
            </a:r>
            <a:r>
              <a:rPr lang="en-US" i="0" dirty="0">
                <a:effectLst/>
                <a:latin typeface="Bahnschrift Light" panose="020B0502040204020203" pitchFamily="34" charset="0"/>
              </a:rPr>
              <a:t> + </a:t>
            </a:r>
            <a:r>
              <a:rPr lang="en-US" i="0" dirty="0" err="1">
                <a:effectLst/>
                <a:latin typeface="Bahnschrift Light" panose="020B0502040204020203" pitchFamily="34" charset="0"/>
              </a:rPr>
              <a:t>shaped_reward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3" name="Immagine 2" descr="Immagine che contiene Elementi grafici, clipart, grafica, poster&#10;&#10;Il contenuto generato dall'IA potrebbe non essere corretto.">
            <a:extLst>
              <a:ext uri="{FF2B5EF4-FFF2-40B4-BE49-F238E27FC236}">
                <a16:creationId xmlns:a16="http://schemas.microsoft.com/office/drawing/2014/main" id="{E97C2471-53E1-0015-AC41-3D4D6B3D6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355" y="3339864"/>
            <a:ext cx="1752953" cy="1752953"/>
          </a:xfrm>
          <a:prstGeom prst="rect">
            <a:avLst/>
          </a:prstGeom>
        </p:spPr>
      </p:pic>
      <p:pic>
        <p:nvPicPr>
          <p:cNvPr id="10" name="Immagine 9" descr="Immagine che contiene clipart, creatività, cartone animat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DE7ED497-A13C-E957-03BC-B7D0DA648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139" y="3247773"/>
            <a:ext cx="1937137" cy="1937137"/>
          </a:xfrm>
          <a:prstGeom prst="rect">
            <a:avLst/>
          </a:prstGeom>
        </p:spPr>
      </p:pic>
      <p:pic>
        <p:nvPicPr>
          <p:cNvPr id="12" name="Immagine 11" descr="Immagine che contiene Elementi grafici, cerchio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51608CF3-053B-5A45-DA7E-3D19691DA0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16" y="3247771"/>
            <a:ext cx="1937137" cy="1937137"/>
          </a:xfrm>
          <a:prstGeom prst="rect">
            <a:avLst/>
          </a:prstGeom>
        </p:spPr>
      </p:pic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BCDBF988-65D4-0B5A-DF0A-A75DFC59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6</a:t>
            </a:fld>
            <a:endParaRPr lang="it-IT"/>
          </a:p>
        </p:txBody>
      </p:sp>
      <p:pic>
        <p:nvPicPr>
          <p:cNvPr id="6" name="Immagine 5" descr="Immagine che contiene cub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5B29356E-160F-85EE-CC35-81B471A73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691" y="112438"/>
            <a:ext cx="497018" cy="4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7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DE0-1A40-017D-7E5B-5AAC8667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EEF00937-C3F2-9A8A-7D42-89456DC9972B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44A033AD-7A7D-0484-0F3A-06E5F1CE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REWARD NATIVE VS SHAPED</a:t>
            </a: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E2EB8C11-871C-C84E-F8EB-4FA8FC22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7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7B55FCC-F1A8-442E-2689-1EE0CCDD2606}"/>
              </a:ext>
            </a:extLst>
          </p:cNvPr>
          <p:cNvSpPr txBox="1"/>
          <p:nvPr/>
        </p:nvSpPr>
        <p:spPr>
          <a:xfrm>
            <a:off x="1841654" y="1910560"/>
            <a:ext cx="2489902" cy="36933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Ricompense </a:t>
            </a:r>
            <a:r>
              <a:rPr lang="it-IT" b="1" i="0" dirty="0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native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01CAF5D-F650-4280-EEBC-694E04167372}"/>
              </a:ext>
            </a:extLst>
          </p:cNvPr>
          <p:cNvSpPr txBox="1"/>
          <p:nvPr/>
        </p:nvSpPr>
        <p:spPr>
          <a:xfrm>
            <a:off x="7860444" y="1910560"/>
            <a:ext cx="2489902" cy="36933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Ricompense </a:t>
            </a:r>
            <a:r>
              <a:rPr lang="it-IT" b="1" i="0" dirty="0" err="1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shaped</a:t>
            </a:r>
            <a:endParaRPr lang="it-IT" b="1" i="0" dirty="0">
              <a:solidFill>
                <a:schemeClr val="accent1"/>
              </a:solidFill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15" name="Immagine 14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F0B94DD2-0920-0848-D5F9-2804F2BC7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107" y="2910497"/>
            <a:ext cx="4600575" cy="150495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Immagine 16" descr="Immagine che contiene testo, Carattere, bianco, schermata&#10;&#10;Il contenuto generato dall'IA potrebbe non essere corretto.">
            <a:extLst>
              <a:ext uri="{FF2B5EF4-FFF2-40B4-BE49-F238E27FC236}">
                <a16:creationId xmlns:a16="http://schemas.microsoft.com/office/drawing/2014/main" id="{B0C48E05-3FD9-ED49-5264-AC4268248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17" y="3253397"/>
            <a:ext cx="3686175" cy="81915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Immagine 22" descr="Immagine che contiene ingranaggio, oggetti in metallo, ruota, trasporto&#10;&#10;Il contenuto generato dall'IA potrebbe non essere corretto.">
            <a:extLst>
              <a:ext uri="{FF2B5EF4-FFF2-40B4-BE49-F238E27FC236}">
                <a16:creationId xmlns:a16="http://schemas.microsoft.com/office/drawing/2014/main" id="{16C5B1D0-74D8-0FDD-51A3-9EAE319ED5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211" y="4611672"/>
            <a:ext cx="1531686" cy="1531686"/>
          </a:xfrm>
          <a:prstGeom prst="rect">
            <a:avLst/>
          </a:prstGeom>
        </p:spPr>
      </p:pic>
      <p:pic>
        <p:nvPicPr>
          <p:cNvPr id="25" name="Immagine 24" descr="Immagine che contiene Elementi grafici, cerchio, clipart, ingranaggio&#10;&#10;Il contenuto generato dall'IA potrebbe non essere corretto.">
            <a:extLst>
              <a:ext uri="{FF2B5EF4-FFF2-40B4-BE49-F238E27FC236}">
                <a16:creationId xmlns:a16="http://schemas.microsoft.com/office/drawing/2014/main" id="{B389BCFC-29C0-36CE-94FC-0EFC359410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761" y="4611672"/>
            <a:ext cx="1531686" cy="1531686"/>
          </a:xfrm>
          <a:prstGeom prst="rect">
            <a:avLst/>
          </a:prstGeom>
        </p:spPr>
      </p:pic>
      <p:pic>
        <p:nvPicPr>
          <p:cNvPr id="28" name="Immagine 27" descr="Immagine che contiene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3BCA1866-75C1-572C-7D9C-CB91CDC935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720790" y="99537"/>
            <a:ext cx="522820" cy="52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DAFE5-CBAF-A867-BE39-DF39BA55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45AF1E02-B714-C63F-C045-AD2782E12E68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8BC5DC4C-1511-4ADF-2174-226AFB08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OTTIMIZZAZIONE DELL’HELPER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DA20DDE-5467-501D-2AB5-580E7A84316A}"/>
              </a:ext>
            </a:extLst>
          </p:cNvPr>
          <p:cNvSpPr txBox="1"/>
          <p:nvPr/>
        </p:nvSpPr>
        <p:spPr>
          <a:xfrm>
            <a:off x="781685" y="2866288"/>
            <a:ext cx="3062764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b="1" i="0" dirty="0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Output atteso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sequenze di azioni in formato: (`[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move_right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], [do], ...`)</a:t>
            </a:r>
          </a:p>
        </p:txBody>
      </p:sp>
      <p:pic>
        <p:nvPicPr>
          <p:cNvPr id="3" name="Immagine 2" descr="Immagine che contiene ingranaggio, cerchio,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5BBB0926-55AC-EBB3-730F-DFEA5A1BC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20" y="4241318"/>
            <a:ext cx="1692693" cy="1692693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409952AB-F38C-0D5E-6A35-7690C3CE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8</a:t>
            </a:fld>
            <a:endParaRPr lang="it-IT"/>
          </a:p>
        </p:txBody>
      </p:sp>
      <p:pic>
        <p:nvPicPr>
          <p:cNvPr id="6" name="Immagine 5" descr="Immagine che contiene Elementi grafici, clipart, creatività&#10;&#10;Il contenuto generato dall'IA potrebbe non essere corretto.">
            <a:extLst>
              <a:ext uri="{FF2B5EF4-FFF2-40B4-BE49-F238E27FC236}">
                <a16:creationId xmlns:a16="http://schemas.microsoft.com/office/drawing/2014/main" id="{B6D3ACDE-6A5F-FC35-4984-6EC0C578AE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956" y="111292"/>
            <a:ext cx="499309" cy="499309"/>
          </a:xfrm>
          <a:prstGeom prst="rect">
            <a:avLst/>
          </a:prstGeom>
        </p:spPr>
      </p:pic>
      <p:pic>
        <p:nvPicPr>
          <p:cNvPr id="9" name="Immagine 8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7EA96A06-94BB-EA85-1CF0-3EFA49DE7C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0429"/>
          <a:stretch>
            <a:fillRect/>
          </a:stretch>
        </p:blipFill>
        <p:spPr>
          <a:xfrm>
            <a:off x="6096000" y="2690034"/>
            <a:ext cx="5793324" cy="1476615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Immagine 11" descr="Immagine che contiene schermata, Elementi grafici, Blu elettrico, grafica&#10;&#10;Il contenuto generato dall'IA potrebbe non essere corretto.">
            <a:extLst>
              <a:ext uri="{FF2B5EF4-FFF2-40B4-BE49-F238E27FC236}">
                <a16:creationId xmlns:a16="http://schemas.microsoft.com/office/drawing/2014/main" id="{7B81F680-A4D8-296F-4C6E-6F2C8C0D5D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204" y="2750994"/>
            <a:ext cx="1153917" cy="115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9BC6-9964-6D63-8539-C1F89CAC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070C6185-3851-0996-2488-AEC509BB4581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4C7F5175-3002-AF59-3F8D-93DABE70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OTTIMIZZAZIONE DELL’HELPER </a:t>
            </a:r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</a:t>
            </a:r>
            <a:r>
              <a:rPr lang="it-IT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</a:t>
            </a:r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.)</a:t>
            </a: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DAB6E2CC-5D3A-787F-2744-0445BC38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9</a:t>
            </a:fld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3D2FA2D-2102-2602-6091-89F2C8C2C6AC}"/>
              </a:ext>
            </a:extLst>
          </p:cNvPr>
          <p:cNvSpPr txBox="1"/>
          <p:nvPr/>
        </p:nvSpPr>
        <p:spPr>
          <a:xfrm>
            <a:off x="473897" y="1735361"/>
            <a:ext cx="3899971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b="1" i="0" dirty="0">
                <a:solidFill>
                  <a:schemeClr val="accent1"/>
                </a:solidFill>
                <a:effectLst/>
                <a:latin typeface="Bahnschrift Light" panose="020B0502040204020203" pitchFamily="34" charset="0"/>
              </a:rPr>
              <a:t>Prompt engineering 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per generare action-sets coerenti e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ri-prompting</a:t>
            </a:r>
            <a:r>
              <a:rPr lang="it-IT" i="0" dirty="0">
                <a:effectLst/>
                <a:latin typeface="Bahnschrift Light" panose="020B0502040204020203" pitchFamily="34" charset="0"/>
              </a:rPr>
              <a:t> con feedback del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Reviewer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12" name="Immagine 11" descr="Immagine che contiene schermata, Elementi grafici, Blu elettrico, design&#10;&#10;Il contenuto generato dall'IA potrebbe non essere corretto.">
            <a:extLst>
              <a:ext uri="{FF2B5EF4-FFF2-40B4-BE49-F238E27FC236}">
                <a16:creationId xmlns:a16="http://schemas.microsoft.com/office/drawing/2014/main" id="{E44361FD-92B9-1ABB-194E-8A096F32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702" y="3383024"/>
            <a:ext cx="1801980" cy="1801980"/>
          </a:xfrm>
          <a:prstGeom prst="rect">
            <a:avLst/>
          </a:prstGeom>
        </p:spPr>
      </p:pic>
      <p:pic>
        <p:nvPicPr>
          <p:cNvPr id="13" name="Immagine 12" descr="Immagine che contiene Elementi grafici, clipart, creatività&#10;&#10;Il contenuto generato dall'IA potrebbe non essere corretto.">
            <a:extLst>
              <a:ext uri="{FF2B5EF4-FFF2-40B4-BE49-F238E27FC236}">
                <a16:creationId xmlns:a16="http://schemas.microsoft.com/office/drawing/2014/main" id="{72A4A9CF-1153-50E6-26E6-3263E52F3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614" y="40865"/>
            <a:ext cx="499309" cy="499309"/>
          </a:xfrm>
          <a:prstGeom prst="rect">
            <a:avLst/>
          </a:prstGeom>
        </p:spPr>
      </p:pic>
      <p:pic>
        <p:nvPicPr>
          <p:cNvPr id="15" name="Immagine 1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EC53D38-54B4-C13B-1254-A989633D6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930" y="2472962"/>
            <a:ext cx="3618321" cy="2546455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Immagine 16" descr="Immagine che contiene schermata, Elementi grafici, Blu elettrico, grafica&#10;&#10;Il contenuto generato dall'IA potrebbe non essere corretto.">
            <a:extLst>
              <a:ext uri="{FF2B5EF4-FFF2-40B4-BE49-F238E27FC236}">
                <a16:creationId xmlns:a16="http://schemas.microsoft.com/office/drawing/2014/main" id="{9B08BF34-B3AE-EB71-B5FE-D71A3D552A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909" y="3662391"/>
            <a:ext cx="1153917" cy="1153917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4BFEC82-E5F2-7232-8421-BD63CF0969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0995" y="2287842"/>
            <a:ext cx="3130766" cy="2916696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186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275F-1C5A-3E6F-57AB-E976AD37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1BBE7E93-25B0-36C6-3C56-EF7FF5F67402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5D5B08C5-19E8-BFA7-3F1C-507CF91F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REVIEWER: DATASET E FINE-TUNING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58DA767-54D6-19B1-55D3-F615E0F02795}"/>
              </a:ext>
            </a:extLst>
          </p:cNvPr>
          <p:cNvSpPr txBox="1"/>
          <p:nvPr/>
        </p:nvSpPr>
        <p:spPr>
          <a:xfrm>
            <a:off x="1035066" y="1882965"/>
            <a:ext cx="198280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Generazione dataset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D5C2A-2E55-0CFB-2193-B0E675C149CF}"/>
              </a:ext>
            </a:extLst>
          </p:cNvPr>
          <p:cNvSpPr txBox="1"/>
          <p:nvPr/>
        </p:nvSpPr>
        <p:spPr>
          <a:xfrm>
            <a:off x="5198280" y="1919257"/>
            <a:ext cx="1768891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Fine-tuning </a:t>
            </a:r>
            <a:r>
              <a:rPr lang="it-IT" i="0" dirty="0" err="1">
                <a:effectLst/>
                <a:latin typeface="Bahnschrift Light" panose="020B0502040204020203" pitchFamily="34" charset="0"/>
              </a:rPr>
              <a:t>Reviewer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4A46A5-5B31-7603-4B4C-3BC8DDE04384}"/>
              </a:ext>
            </a:extLst>
          </p:cNvPr>
          <p:cNvSpPr txBox="1"/>
          <p:nvPr/>
        </p:nvSpPr>
        <p:spPr>
          <a:xfrm>
            <a:off x="9593208" y="1919257"/>
            <a:ext cx="1361485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PPO training</a:t>
            </a:r>
          </a:p>
        </p:txBody>
      </p:sp>
      <p:pic>
        <p:nvPicPr>
          <p:cNvPr id="10" name="Immagine 9" descr="Immagine che contiene Elementi grafici, simbolo, design&#10;&#10;Il contenuto generato dall'IA potrebbe non essere corretto.">
            <a:extLst>
              <a:ext uri="{FF2B5EF4-FFF2-40B4-BE49-F238E27FC236}">
                <a16:creationId xmlns:a16="http://schemas.microsoft.com/office/drawing/2014/main" id="{71FC8A57-90DA-9C05-6F47-90385A0F1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52085" y="1715739"/>
            <a:ext cx="1044323" cy="1044323"/>
          </a:xfrm>
          <a:prstGeom prst="rect">
            <a:avLst/>
          </a:prstGeom>
        </p:spPr>
      </p:pic>
      <p:pic>
        <p:nvPicPr>
          <p:cNvPr id="11" name="Immagine 10" descr="Immagine che contiene Elementi grafici, simbolo, design&#10;&#10;Il contenuto generato dall'IA potrebbe non essere corretto.">
            <a:extLst>
              <a:ext uri="{FF2B5EF4-FFF2-40B4-BE49-F238E27FC236}">
                <a16:creationId xmlns:a16="http://schemas.microsoft.com/office/drawing/2014/main" id="{4CAB66C4-DB9F-48A0-2581-066BDF493C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95594" y="1715738"/>
            <a:ext cx="1044323" cy="1044323"/>
          </a:xfrm>
          <a:prstGeom prst="rect">
            <a:avLst/>
          </a:prstGeom>
        </p:spPr>
      </p:pic>
      <p:pic>
        <p:nvPicPr>
          <p:cNvPr id="13" name="Immagine 12" descr="Immagine che contiene cerchio, schermata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DE22C3BF-3109-983B-260B-58DF1DB60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702" y="3238434"/>
            <a:ext cx="1507420" cy="1507420"/>
          </a:xfrm>
          <a:prstGeom prst="rect">
            <a:avLst/>
          </a:prstGeom>
        </p:spPr>
      </p:pic>
      <p:pic>
        <p:nvPicPr>
          <p:cNvPr id="15" name="Immagine 14" descr="Immagine che contiene schermata, linea, Policromia, design&#10;&#10;Il contenuto generato dall'IA potrebbe non essere corretto.">
            <a:extLst>
              <a:ext uri="{FF2B5EF4-FFF2-40B4-BE49-F238E27FC236}">
                <a16:creationId xmlns:a16="http://schemas.microsoft.com/office/drawing/2014/main" id="{809B7C44-E815-F389-34CF-736F72CE27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286" y="3384366"/>
            <a:ext cx="1327428" cy="1327428"/>
          </a:xfrm>
          <a:prstGeom prst="rect">
            <a:avLst/>
          </a:prstGeom>
        </p:spPr>
      </p:pic>
      <p:pic>
        <p:nvPicPr>
          <p:cNvPr id="17" name="Immagine 16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6D4C2C80-3351-374C-39C4-27F70E183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66" y="3199304"/>
            <a:ext cx="1924957" cy="1924957"/>
          </a:xfrm>
          <a:prstGeom prst="rect">
            <a:avLst/>
          </a:prstGeom>
        </p:spPr>
      </p:pic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FE0ABBC0-DDAF-9834-25BD-C71511EF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10</a:t>
            </a:fld>
            <a:endParaRPr lang="it-IT"/>
          </a:p>
        </p:txBody>
      </p:sp>
      <p:pic>
        <p:nvPicPr>
          <p:cNvPr id="8" name="Immagine 7" descr="Immagine che contiene schermata, Elementi grafici, cerchio, quadrato&#10;&#10;Il contenuto generato dall'IA potrebbe non essere corretto.">
            <a:extLst>
              <a:ext uri="{FF2B5EF4-FFF2-40B4-BE49-F238E27FC236}">
                <a16:creationId xmlns:a16="http://schemas.microsoft.com/office/drawing/2014/main" id="{CDB66F81-3A50-B303-9731-E8E487FFF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61" y="28395"/>
            <a:ext cx="560732" cy="56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78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7322-D3D0-3BD9-3EE6-8C134015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A31C55BA-D148-21B8-B05D-9263BE21B817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127BF9D2-70A5-F585-72E8-F0F42B3B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VALUTAZIONE E METRICHE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56A217B-F5D4-6A56-7536-B250EFDC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11</a:t>
            </a:fld>
            <a:endParaRPr lang="it-IT"/>
          </a:p>
        </p:txBody>
      </p:sp>
      <p:pic>
        <p:nvPicPr>
          <p:cNvPr id="6" name="Immagine 5" descr="Immagine che contiene Elementi grafici, schermata, grafica, Policromia&#10;&#10;Il contenuto generato dall'IA potrebbe non essere corretto.">
            <a:extLst>
              <a:ext uri="{FF2B5EF4-FFF2-40B4-BE49-F238E27FC236}">
                <a16:creationId xmlns:a16="http://schemas.microsoft.com/office/drawing/2014/main" id="{504BFDFB-E3F7-809A-D4C4-8F257641A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081" y="111304"/>
            <a:ext cx="452350" cy="452350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EFB4CA3-6671-4DFB-F872-B9D833372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01" y="1880529"/>
            <a:ext cx="5534025" cy="3095625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 descr="Immagine che contiene testo, Carattere, schermata, ricevuta&#10;&#10;Il contenuto generato dall'IA potrebbe non essere corretto.">
            <a:extLst>
              <a:ext uri="{FF2B5EF4-FFF2-40B4-BE49-F238E27FC236}">
                <a16:creationId xmlns:a16="http://schemas.microsoft.com/office/drawing/2014/main" id="{C53EEF5D-15FF-DB0D-23A4-BFA9DD493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701" y="2670390"/>
            <a:ext cx="4909164" cy="1119228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522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F8BA-B893-11D4-31BD-32D6A6DB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B5146EB2-3749-6B0D-5515-35B1AA23AF08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A0F24347-DC0B-659F-A7F0-015DE1A7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VALUTAZIONE E METRICHE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590EECE-55AC-249D-FD5B-92483D77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12</a:t>
            </a:fld>
            <a:endParaRPr lang="it-IT"/>
          </a:p>
        </p:txBody>
      </p:sp>
      <p:pic>
        <p:nvPicPr>
          <p:cNvPr id="6" name="Immagine 5" descr="Immagine che contiene Elementi grafici, schermata, grafica, Policromia&#10;&#10;Il contenuto generato dall'IA potrebbe non essere corretto.">
            <a:extLst>
              <a:ext uri="{FF2B5EF4-FFF2-40B4-BE49-F238E27FC236}">
                <a16:creationId xmlns:a16="http://schemas.microsoft.com/office/drawing/2014/main" id="{A96F19E9-A8DE-169C-FEB2-4C17313FA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081" y="111304"/>
            <a:ext cx="452350" cy="452350"/>
          </a:xfrm>
          <a:prstGeom prst="rect">
            <a:avLst/>
          </a:prstGeom>
        </p:spPr>
      </p:pic>
      <p:pic>
        <p:nvPicPr>
          <p:cNvPr id="8" name="Immagine 7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FF5D372-37DD-EB71-E20E-303D74A43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407" y="1051263"/>
            <a:ext cx="5678960" cy="4271447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Immagine 10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F95AAF54-01FE-6931-E376-ECE21E8F9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633" y="1043073"/>
            <a:ext cx="5678960" cy="4279637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371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41DC-4424-9E7B-C038-30B2E71E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0BCA3AF6-0DF9-3A6B-FFAC-58727864C4C1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659F6272-1D3E-2C1E-E536-08CE1F11E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VALUTAZIONE E METRICHE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33695B5-65AF-1F56-45E0-5970DEE3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13</a:t>
            </a:fld>
            <a:endParaRPr lang="it-IT"/>
          </a:p>
        </p:txBody>
      </p:sp>
      <p:pic>
        <p:nvPicPr>
          <p:cNvPr id="6" name="Immagine 5" descr="Immagine che contiene Elementi grafici, schermata, grafica, Policromia&#10;&#10;Il contenuto generato dall'IA potrebbe non essere corretto.">
            <a:extLst>
              <a:ext uri="{FF2B5EF4-FFF2-40B4-BE49-F238E27FC236}">
                <a16:creationId xmlns:a16="http://schemas.microsoft.com/office/drawing/2014/main" id="{E8B66F03-2381-70DA-BDF6-106A949FC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081" y="111304"/>
            <a:ext cx="452350" cy="452350"/>
          </a:xfrm>
          <a:prstGeom prst="rect">
            <a:avLst/>
          </a:prstGeom>
        </p:spPr>
      </p:pic>
      <p:pic>
        <p:nvPicPr>
          <p:cNvPr id="10" name="Immagine 9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7D3F65D9-ED16-A44E-4A44-5FE9C11FE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23" y="1523342"/>
            <a:ext cx="2857500" cy="38100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Immagine 11" descr="Immagine che contiene diagramma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1913675D-E9BE-41E3-E10B-785499F9B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20" y="1946548"/>
            <a:ext cx="8491109" cy="2963588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6004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A3B8-127D-5763-9B77-C928CD66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5FFDE7F9-A929-ADF8-1E67-DB1CECDB3390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0BB17ED9-2918-0CC3-9488-402DBA2B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CHALLENGE AFFRONTATE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190275B-8409-CC98-1F01-E9A64978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14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8647514-C0BB-BE21-76E5-38CEE42CEECB}"/>
              </a:ext>
            </a:extLst>
          </p:cNvPr>
          <p:cNvSpPr txBox="1"/>
          <p:nvPr/>
        </p:nvSpPr>
        <p:spPr>
          <a:xfrm>
            <a:off x="1035066" y="1882965"/>
            <a:ext cx="198280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Generazione dataset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B10F2B-2517-2F91-7B13-47B6A68D1F24}"/>
              </a:ext>
            </a:extLst>
          </p:cNvPr>
          <p:cNvSpPr txBox="1"/>
          <p:nvPr/>
        </p:nvSpPr>
        <p:spPr>
          <a:xfrm>
            <a:off x="5104600" y="1744465"/>
            <a:ext cx="1982800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latin typeface="Bahnschrift Light" panose="020B0502040204020203" pitchFamily="34" charset="0"/>
              </a:rPr>
              <a:t>Gestione situazioni critiche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4E8778E-B743-6072-69D2-B68A72A5B6BB}"/>
              </a:ext>
            </a:extLst>
          </p:cNvPr>
          <p:cNvSpPr txBox="1"/>
          <p:nvPr/>
        </p:nvSpPr>
        <p:spPr>
          <a:xfrm>
            <a:off x="8791460" y="1882965"/>
            <a:ext cx="218214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latin typeface="Bahnschrift Light" panose="020B0502040204020203" pitchFamily="34" charset="0"/>
              </a:rPr>
              <a:t>LLM </a:t>
            </a:r>
            <a:r>
              <a:rPr lang="it-IT" dirty="0" err="1">
                <a:latin typeface="Bahnschrift Light" panose="020B0502040204020203" pitchFamily="34" charset="0"/>
              </a:rPr>
              <a:t>hallucinations</a:t>
            </a:r>
            <a:r>
              <a:rPr lang="it-IT" dirty="0">
                <a:latin typeface="Bahnschrift Light" panose="020B0502040204020203" pitchFamily="34" charset="0"/>
              </a:rPr>
              <a:t> e </a:t>
            </a:r>
            <a:r>
              <a:rPr lang="it-IT" dirty="0" err="1">
                <a:latin typeface="Bahnschrift Light" panose="020B0502040204020203" pitchFamily="34" charset="0"/>
              </a:rPr>
              <a:t>typos</a:t>
            </a:r>
            <a:endParaRPr lang="it-IT" i="0" dirty="0"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16" name="Immagine 15" descr="Immagine che contiene simbolo, Rettangolo, Policromi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1BA2A53-09D1-CEAA-666D-A61373C9F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22" y="3200823"/>
            <a:ext cx="1097029" cy="1097029"/>
          </a:xfrm>
          <a:prstGeom prst="rect">
            <a:avLst/>
          </a:prstGeom>
        </p:spPr>
      </p:pic>
      <p:pic>
        <p:nvPicPr>
          <p:cNvPr id="18" name="Immagine 17" descr="Immagine che contiene clipart, cartone animato, illustrazione, disegno&#10;&#10;Il contenuto generato dall'IA potrebbe non essere corretto.">
            <a:extLst>
              <a:ext uri="{FF2B5EF4-FFF2-40B4-BE49-F238E27FC236}">
                <a16:creationId xmlns:a16="http://schemas.microsoft.com/office/drawing/2014/main" id="{E34C263D-B279-23CB-443A-A8FC2C5AF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12" y="3374759"/>
            <a:ext cx="1378973" cy="1378973"/>
          </a:xfrm>
          <a:prstGeom prst="rect">
            <a:avLst/>
          </a:prstGeom>
        </p:spPr>
      </p:pic>
      <p:pic>
        <p:nvPicPr>
          <p:cNvPr id="20" name="Immagine 19" descr="Immagine che contiene logo, Elementi grafici, schermata, simbolo&#10;&#10;Il contenuto generato dall'IA potrebbe non essere corretto.">
            <a:extLst>
              <a:ext uri="{FF2B5EF4-FFF2-40B4-BE49-F238E27FC236}">
                <a16:creationId xmlns:a16="http://schemas.microsoft.com/office/drawing/2014/main" id="{76638C29-47C9-EB4E-7B43-BFAE68B3F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58" y="3320864"/>
            <a:ext cx="1486761" cy="1486761"/>
          </a:xfrm>
          <a:prstGeom prst="rect">
            <a:avLst/>
          </a:prstGeom>
        </p:spPr>
      </p:pic>
      <p:pic>
        <p:nvPicPr>
          <p:cNvPr id="22" name="Immagine 21" descr="Immagine che contiene Elementi grafici, cerchi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9B1929E0-1611-A867-D60F-D139DB2B14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384" y="3885205"/>
            <a:ext cx="773961" cy="773961"/>
          </a:xfrm>
          <a:prstGeom prst="rect">
            <a:avLst/>
          </a:prstGeom>
        </p:spPr>
      </p:pic>
      <p:pic>
        <p:nvPicPr>
          <p:cNvPr id="24" name="Immagine 23" descr="Immagine che contiene clipart, Elementi grafici, cerchio, schermata&#10;&#10;Il contenuto generato dall'IA potrebbe non essere corretto.">
            <a:extLst>
              <a:ext uri="{FF2B5EF4-FFF2-40B4-BE49-F238E27FC236}">
                <a16:creationId xmlns:a16="http://schemas.microsoft.com/office/drawing/2014/main" id="{B4B0A34D-A4C3-DDD9-36AD-F8B479C897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807" y="30632"/>
            <a:ext cx="548723" cy="5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9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CD20-97CB-6E5E-F788-3780C1F8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E26100F3-6F16-E24E-0CD8-F855CD1DB066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C795B014-3FFD-D6FD-53F6-93358887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4" y="0"/>
            <a:ext cx="12205274" cy="721895"/>
          </a:xfrm>
        </p:spPr>
        <p:txBody>
          <a:bodyPr/>
          <a:lstStyle/>
          <a:p>
            <a:pPr algn="ctr"/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CONCLUSIONI E SVILUPPI FUTURI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C1E78BF-7AB0-5484-F70D-F3D395BB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15</a:t>
            </a:fld>
            <a:endParaRPr lang="it-IT"/>
          </a:p>
        </p:txBody>
      </p:sp>
      <p:pic>
        <p:nvPicPr>
          <p:cNvPr id="10" name="Immagine 9" descr="Immagine che contiene Elementi grafici, schermata, clipart, logo&#10;&#10;Il contenuto generato dall'IA potrebbe non essere corretto.">
            <a:extLst>
              <a:ext uri="{FF2B5EF4-FFF2-40B4-BE49-F238E27FC236}">
                <a16:creationId xmlns:a16="http://schemas.microsoft.com/office/drawing/2014/main" id="{937BE939-00A2-FEC7-53AE-0392B0F82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840" y="-658"/>
            <a:ext cx="517488" cy="51748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C054C75-6665-0E4E-6F8B-65714CF8AC93}"/>
              </a:ext>
            </a:extLst>
          </p:cNvPr>
          <p:cNvSpPr txBox="1"/>
          <p:nvPr/>
        </p:nvSpPr>
        <p:spPr>
          <a:xfrm>
            <a:off x="1035066" y="1882965"/>
            <a:ext cx="1982800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Estensioni a scenari multi-agent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16C21F0-8933-E8A0-A92E-860A999E2359}"/>
              </a:ext>
            </a:extLst>
          </p:cNvPr>
          <p:cNvSpPr txBox="1"/>
          <p:nvPr/>
        </p:nvSpPr>
        <p:spPr>
          <a:xfrm>
            <a:off x="5104600" y="1882965"/>
            <a:ext cx="1982800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Multi-modale LLM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A319FC2-C9D8-D478-B4A8-4E6764E9EBB1}"/>
              </a:ext>
            </a:extLst>
          </p:cNvPr>
          <p:cNvSpPr txBox="1"/>
          <p:nvPr/>
        </p:nvSpPr>
        <p:spPr>
          <a:xfrm>
            <a:off x="9053309" y="1977795"/>
            <a:ext cx="1982800" cy="36933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i="0" dirty="0">
                <a:effectLst/>
                <a:latin typeface="Bahnschrift Light" panose="020B0502040204020203" pitchFamily="34" charset="0"/>
              </a:rPr>
              <a:t>Algoritmi ibridi</a:t>
            </a:r>
          </a:p>
        </p:txBody>
      </p:sp>
      <p:pic>
        <p:nvPicPr>
          <p:cNvPr id="17" name="Immagine 16" descr="Immagine che contiene Elementi grafici, grafica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381B51AA-E4EE-C8CC-23B9-584A742BBC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753" y="3650837"/>
            <a:ext cx="1498634" cy="1498634"/>
          </a:xfrm>
          <a:prstGeom prst="rect">
            <a:avLst/>
          </a:prstGeom>
        </p:spPr>
      </p:pic>
      <p:pic>
        <p:nvPicPr>
          <p:cNvPr id="19" name="Immagine 18" descr="Immagine che contiene Elementi grafici, cerchio, Policromia, grafica&#10;&#10;Il contenuto generato dall'IA potrebbe non essere corretto.">
            <a:extLst>
              <a:ext uri="{FF2B5EF4-FFF2-40B4-BE49-F238E27FC236}">
                <a16:creationId xmlns:a16="http://schemas.microsoft.com/office/drawing/2014/main" id="{17FE69D5-02F2-748B-CA39-CE31C335C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226" y="3629761"/>
            <a:ext cx="1254007" cy="1254007"/>
          </a:xfrm>
          <a:prstGeom prst="rect">
            <a:avLst/>
          </a:prstGeom>
        </p:spPr>
      </p:pic>
      <p:pic>
        <p:nvPicPr>
          <p:cNvPr id="21" name="Immagine 20" descr="Immagine che contiene clipart, schermata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1ACA506F-5DD4-F079-CF45-13A034BA3A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010" y="3734054"/>
            <a:ext cx="892706" cy="892706"/>
          </a:xfrm>
          <a:prstGeom prst="rect">
            <a:avLst/>
          </a:prstGeom>
        </p:spPr>
      </p:pic>
      <p:pic>
        <p:nvPicPr>
          <p:cNvPr id="22" name="Immagine 21" descr="Immagine che contiene clipart, schermata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2EBB5D17-14FB-761F-1A90-30A6895116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00" y="4051706"/>
            <a:ext cx="892706" cy="89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21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B0FE-7D26-14DF-C875-51AF45B4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quadrato, modello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D8A13B72-6B75-5D13-B24E-A08144196B57}"/>
              </a:ext>
            </a:extLst>
          </p:cNvPr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3274" y="-658"/>
            <a:ext cx="12192000" cy="6858000"/>
          </a:xfrm>
          <a:prstGeom prst="rect">
            <a:avLst/>
          </a:prstGeom>
        </p:spPr>
      </p:pic>
      <p:sp>
        <p:nvSpPr>
          <p:cNvPr id="5" name="Titolo 10">
            <a:extLst>
              <a:ext uri="{FF2B5EF4-FFF2-40B4-BE49-F238E27FC236}">
                <a16:creationId xmlns:a16="http://schemas.microsoft.com/office/drawing/2014/main" id="{D25AE251-1C3B-82F8-33F2-7A02192E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512" y="1828801"/>
            <a:ext cx="6124975" cy="18197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it-IT" sz="5400" dirty="0">
                <a:latin typeface="Aharoni" panose="02010803020104030203" pitchFamily="2" charset="-79"/>
                <a:cs typeface="Aharoni" panose="02010803020104030203" pitchFamily="2" charset="-79"/>
              </a:rPr>
              <a:t>GRAZIE PER L’</a:t>
            </a:r>
            <a:r>
              <a:rPr lang="it-IT" sz="5400" dirty="0">
                <a:solidFill>
                  <a:schemeClr val="accent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ATTENZIONE</a:t>
            </a:r>
            <a:r>
              <a:rPr lang="it-IT" sz="5400" dirty="0">
                <a:latin typeface="Aharoni" panose="02010803020104030203" pitchFamily="2" charset="-79"/>
                <a:cs typeface="Aharoni" panose="02010803020104030203" pitchFamily="2" charset="-79"/>
              </a:rPr>
              <a:t>!</a:t>
            </a:r>
          </a:p>
        </p:txBody>
      </p:sp>
      <p:pic>
        <p:nvPicPr>
          <p:cNvPr id="3" name="Immagine 2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4F231838-894C-9D22-E09B-01BDC6B9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240" y="4153972"/>
            <a:ext cx="1098972" cy="1098972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20D741-D5AF-6AE7-884A-A85C1A74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E350-E4FF-43F1-9343-8DDB4FE36F79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458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1884</Words>
  <Application>Microsoft Office PowerPoint</Application>
  <PresentationFormat>Widescreen</PresentationFormat>
  <Paragraphs>115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Aharoni</vt:lpstr>
      <vt:lpstr>Aptos</vt:lpstr>
      <vt:lpstr>Aptos Display</vt:lpstr>
      <vt:lpstr>Arial</vt:lpstr>
      <vt:lpstr>Bahnschrift Light</vt:lpstr>
      <vt:lpstr>Tema di Office</vt:lpstr>
      <vt:lpstr>Presentazione standard di PowerPoint</vt:lpstr>
      <vt:lpstr>CONTESTO E MOTIVAZIONE</vt:lpstr>
      <vt:lpstr>OBIETTIVI DEL PROGETTO</vt:lpstr>
      <vt:lpstr>ARCHITETTURA HeRoN</vt:lpstr>
      <vt:lpstr>THRESHOLD</vt:lpstr>
      <vt:lpstr>STATO, AZIONI, RICOMPENSE</vt:lpstr>
      <vt:lpstr>REWARD NATIVE VS SHAPED</vt:lpstr>
      <vt:lpstr>OTTIMIZZAZIONE DELL’HELPER</vt:lpstr>
      <vt:lpstr>OTTIMIZZAZIONE DELL’HELPER (cont.)</vt:lpstr>
      <vt:lpstr>REVIEWER: DATASET E FINE-TUNING</vt:lpstr>
      <vt:lpstr>VALUTAZIONE E METRICHE</vt:lpstr>
      <vt:lpstr>VALUTAZIONE E METRICHE</vt:lpstr>
      <vt:lpstr>VALUTAZIONE E METRICHE</vt:lpstr>
      <vt:lpstr>CHALLENGE AFFRONTATE</vt:lpstr>
      <vt:lpstr>CONCLUSIONI E SVILUPPI FUTURI</vt:lpstr>
      <vt:lpstr>GRAZIE PER L’ATTENZIONE!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Danilo Gisolfi</dc:creator>
  <cp:lastModifiedBy>Danilo Gisolfi</cp:lastModifiedBy>
  <cp:revision>24</cp:revision>
  <dcterms:created xsi:type="dcterms:W3CDTF">2025-11-18T15:39:46Z</dcterms:created>
  <dcterms:modified xsi:type="dcterms:W3CDTF">2025-11-19T23:22:12Z</dcterms:modified>
</cp:coreProperties>
</file>